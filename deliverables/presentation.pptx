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the supply chain transformation taskforce for Levisol. Over the next twenty minutes we will show you three things: redesigned inventory norms for all 957 SKU-CFA combinations, a provably cost-optimal production and distribution plan for January 2026, and the working tool your planners can run every month without us. The four numbers on this slide are the story: eleven point four four crore total cash cost, zero unmet demand, fifty-six percent of CFA safety stock released versus the legacy conservative reading, and a mathematically proven optimum — not a heuristic. Everything you will see is traceable to the case data workbook and was verified by independent recomputation.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assignment has three components and they interlock: norms feed the plan as requirements; the plan and the norms are both produced by the same tool your planners will keep. We will close with verification and the assessment-day robustness tests, because an answer this important should not be taken on trust. Note the agenda mirrors the case's evaluation criteria: analytical rigor, solution quality, tool quality, and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situation: a global base-oil shock has raised input volatility and working capital pressure. The old norms were built for calmer times. Leadership wants service protected on critical SKUs while cash is released — normally a contradiction. The network: three plants with very different economics — Kolkata produces at nine thousand rupees per kilolitre, Mumbai at twelve, Ahmedabad at twelve and a half — two mother hubs, ten CFAs, one hundred SKUs across five production lines. Any plant can supply any hub, so the routing question is real. And the stakes: a dealer who runs dry switches brands — penalties run one-point-three to three-point-three lakh rupees per kilolitre.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modelling we validated every sheet. All five demand-side sheets align perfectly on the same 957 SKU-CFA keys — no duplicates, no orphans. Three things worth flagging. First, the case PDF's Exhibit A is garbled by its layout — read naively it says Kolkata produces at two hundred rupees per kilolitre. The case itself says the data file takes precedence, and the clean table gives the true costs. Second, sixteen rows have zero sales for six straight months — we suppress their norms and flag them rather than inventing numbers. Third, Ahmedabad's 50-litre line capacity of 220 kL is not a multiple of the 25 kL batch — only 200 is usable. Small things, but they are the difference between a model that runs and one that is right.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intellectual core of component one. Fix one: we buffer randomness, not bias. Safety stock should absorb the unpredictable part of forecast error. Raw error would give one eight-litre-a-month SKU a five-and-a-half kilolitre buffer — fifty-six years of cover — because its forecast is simply broken. We remove the bias, size stock on the residual randomness, and flag 211 biased rows for the demand planners to fix. Fix two: the hub holds a mandated 98 percent buffer, so it is the decoupling point — CFAs buffer only the hub-to-CFA leg; hubs buffer production plus inbound transit. Each step is buffered exactly once; double-buffering would trap 981 extra kilolitres. Fix three: the case explicitly leaves the fill-rate translation to us — we protect A and B conservatively and size C and D to their exact 92 percent targets with the loss-function method.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solution on one page — and it is also literally the architecture of the tool. Inputs on the left: the eleven exhibits, refreshed monthly by the planner in the same workbook. The norms engine classifies tiers, estimates uncertainty, and produces safety stocks, reorder points and days of cover. Those norms become requirements for the optimiser, which chooses batches, plants and routes. Everything lands in one output workbook with an exceptions sheet. The two amber boxes are the honesty layer: flags for data anomalies, and graceful scarcity handling — the tool never crashes on a shortage; it ranks and prices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Tiers drive service levels, and the data classifies itself: rank SKUs by six-month volume and cut at fifty, eighty and ninety-five percent of cumulative share. Fifteen SKUs are half the business — they get 98 percent fill-rate protection. Thirty-four more carry the next thirty percent at 97. The long tail of fifty-one C and D SKUs is twenty percent of volume at 92 percent targets — and that asymmetry is exactly what our tiered translation exploits: protect the head conservatively, size the tail precisely. Our slab cuts reproduce the case's intended shares to within half a percent.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is the money slide for component one. Left bar: the legacy conservative reading — raw error, end-to-end lead times, worst-case service translation — three thousand three hundred kilolitres of CFA safety stock. Each step to the right isolates one methodology fix. Correct the sigma and you drop to twenty-four fifty. Decouple the echelons and you are at seventeen-fifty. Apply the tiered fill-rate translation and the recommended norm is one thousand four hundred sixty-five kilolitres — a fifty-six percent release — while tier A and B buffers are untouched at cycle-service level. This is the dual mandate delivered: cash out, critical service intact.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the remaining stock live? Almost entirely under the products that earn it: tier A and B hold 1,433 of the 1,465 kilolitres. C and D together hold just 32 — their monthly cycle stock already delivers a 92 percent fill rate. At the hub echelon, risk pooling does the work: aggregating independent CFA demands means hub West needs 1,156 kilolitres and hub East 332 to hold a 98 percent service level across every SKU. Median days of cover at the CFAs is six days — lean but honest, with all seven slow-mover outliers explicitly flagged for review rather than hidden in an average.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norm table is only trustworthy if its edge cases are visible. Three flags ship with every monthly run. Sixteen rows have no sales history at all — their norms are zeroed and handed to a human. Two hundred eleven rows have forecasts whose systematic bias exceeds their randomness — that is a demand-planning defect; fixing those forecasts is the single largest structural cash lever we found, bigger than any warehouse decision. And seven slow movers still show more than ninety days of cover — flagged for manual review, not capped silently. The histogram shows the distribution is otherwise tight around a six-day median.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Component two is a mixed-integer program. Decisions: how many twenty-five kilolitre batches of each SKU at each plant, and every flow through hubs to CFAs. The objective prices everything: production, both freight legs, the full Exhibit-D penalty on any unmet demand — tripled for contractual SKUs — and a quarter-weight on safety-stock shortfalls so buffers yield before sales ever do. The key mathematical insight: SKUs only interact through line capacities, and every SKU belongs to exactly one line — so the problem separates into five independent MILPs, each solved to a gap of zero. We then attacked our own answer: a monolithic cross-solve found nothing better, and the LP bound proves the remaining distance to the fractional ideal is precisely the batch rule's price. This is not a good plan; it is the optimal plan for the stated costs.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production answer. Kolkata, at nine thousand rupees, runs every one of its four lines at exactly one hundred percent — 2,550 kilolitres. Mumbai contributes 4,325 with its cheap one-thousand-rupee lane to hub West; its small-pack line saturates. Ahmedabad, the most expensive plant, makes only 850 — but notice it keeps three thousand four hundred kilolitres of slack: that slack is the network's shock absorber, and scenario S1 will show it in action. Every quantity is a whole multiple of twenty-five kilolitres — three hundred nine batches, zero violations.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network in one picture — ribbon width is volume. Read left to right: Mumbai's forty-three hundred kilolitres flow almost entirely down its thousand-rupee lane to hub West, which serves Bhiwandi, Hyderabad, Haryana, Bangalore and the West. Kolkata feeds hub East, which owns Kolkata city, Kanpur, Guwahati and Jamshedpur. Kanpur is the interesting one — it sits in the North but hub East lands it seven hundred rupees cheaper, so that is where it sources. The two hair-thin counter-flows, twelve kilolitres in total, are batch remainders already paid for at a cheap plant, shipped to where they are useful — we verified each one is individually rational, not an artefact.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supporting exhibits. Left: landed cost — production plus primary freight. To hub West, Mumbai wins at thirteen thousand; to hub East, Kolkata wins at ten thousand one hundred. Ahmedabad is second-best to both hubs, which is exactly why it is the swing plant. Right: month-end hub stock versus the ninety-eight percent safety-stock targets — West closes at 1,636 against a target of 1,156, East at 590 against 332. The overshoot is batch remainders parked at hubs, which is free under the case's cost structure; if management wants working capital priced, the tool has a holding-cost dial ready.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of the plan. Production dominates at eight and a half crore — seventy-five percent. Freight splits one crore primary, one point eight secondary. And the penalty line — the one that measures failure — is exactly zero: every kilolitre of January demand is served. Below the cash line we report two memo items with full transparency: about one hundred kilolitres of safety-stock top-ups were left unfilled because filling each would need a nearly-empty twenty-five kilolitre batch costing more than the risk it removes. We checked every single case — zero profitable exceptions. That is honest accounting: prioritisation weights are not cash and are never mixed into the headline.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believing any of this, we tried to break it. Four independent audits — norms, feasibility, optimality, methodology — plus a fresh-code recomputation. Every one of the nine hundred fifty-seven CFA norms and one hundred fifty-one hub norms reproduces to ten to the minus fourteen kilolitres. Every batch is a multiple of twenty-five. No line exceeds capacity. Mass balances close exactly at plants, hubs and CFAs. All five cost components re-derive to within rounding. And the optimality triangle — zero gap, monolithic cross-solve, LP bound — closes. One check is starred: hub buffers are soft by design, and the thirteen small shortfalls are costed and listed, exactly as the case requires.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assessment day you will hand us a modified input set. We rehearsed. Scenario one cuts fifteen hundred kilolitres from the small-pack lines — the tool sacrifices four hundred eighty-eight kilolitres of precautionary buffer and loses only nine point three kilolitres of actual demand, all on the cheapest-penalty non-contractual lines. Scenario two adds forty percent to every forecast — production scales to ten thousand two hundred fifty and only six point six kilolitres go unmet. Scenario three multiplies Mumbai's primary freight sixfold — sourcing re-routes automatically, zero unmet, cost impact fully transparent. No crashes, no manual surgery — the same workbook, the same button.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Component three. The planner's workflow is three steps: edit the month's workbook in Excel — demand, capacities, rates, whatever changed; double-click the tool and press RUN PLAN; open the output workbook. Production plan, routing plan, all norms, hub positions, cost summary, and the exceptions sheet in plain business language. Every input is editable because the tool re-reads everything each run — nothing is hard-coded. It cannot crash on a hard month: shortfall variables keep every instance feasible, so a capacity crisis comes back as a ranked, priced shortage report. Under three minutes per run on a laptop. Your team owns it from day one — engine, GUI, and user guide are all in the submission package.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four recommendations. Adopt the January plan — it is executable as-is and provably the cheapest feasible answer. Adopt the norms and let the tool re-estimate them monthly; we would revisit the C and D fill-rate choice after three months of post-shock data. Third — and this is the finding we would put at the top of the CSCO's list — fix the two hundred eleven biased forecasts; no warehouse decision releases more cash than that. Fourth, watch the small-pack line: it is the first to short under any demand upside, and Ahmedabad's slack is your insurance. Everything you have seen is in the package: the deck, the report, the output workbook, the tool your planners keep, and the methodology document. We are happy to run any modified input set live.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366B"/>
        </a:solidFill>
        <a:effectLst/>
      </p:bgPr>
    </p:bg>
    <p:spTree>
      <p:nvGrpSpPr>
        <p:cNvPr id="1" name=""/>
        <p:cNvGrpSpPr/>
        <p:nvPr/>
      </p:nvGrpSpPr>
      <p:grpSpPr/>
      <p:sp>
        <p:nvSpPr>
          <p:cNvPr id="2" name="Rectangle 1"/>
          <p:cNvSpPr/>
          <p:nvPr/>
        </p:nvSpPr>
        <p:spPr>
          <a:xfrm>
            <a:off x="0" y="5394960"/>
            <a:ext cx="12191695" cy="54864"/>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51560"/>
            <a:ext cx="10515600" cy="365760"/>
          </a:xfrm>
          <a:prstGeom prst="rect">
            <a:avLst/>
          </a:prstGeom>
          <a:noFill/>
        </p:spPr>
        <p:txBody>
          <a:bodyPr wrap="square" anchor="t" lIns="0" rIns="0" tIns="0" bIns="0">
            <a:spAutoFit/>
          </a:bodyPr>
          <a:lstStyle/>
          <a:p>
            <a:pPr algn="l">
              <a:lnSpc>
                <a:spcPct val="100000"/>
              </a:lnSpc>
              <a:spcAft>
                <a:spcPts val="400"/>
              </a:spcAft>
            </a:pPr>
            <a:r>
              <a:rPr sz="1300" b="1" i="0">
                <a:solidFill>
                  <a:srgbClr val="CADCFC"/>
                </a:solidFill>
                <a:latin typeface="Segoe UI Semibold"/>
              </a:rPr>
              <a:t>LEVISOL INDIA · SUPPLY CHAIN TRANSFORMATION TASKFORCE</a:t>
            </a:r>
          </a:p>
        </p:txBody>
      </p:sp>
      <p:sp>
        <p:nvSpPr>
          <p:cNvPr id="4" name="TextBox 3"/>
          <p:cNvSpPr txBox="1"/>
          <p:nvPr/>
        </p:nvSpPr>
        <p:spPr>
          <a:xfrm>
            <a:off x="822960" y="1600200"/>
            <a:ext cx="10515600" cy="1737360"/>
          </a:xfrm>
          <a:prstGeom prst="rect">
            <a:avLst/>
          </a:prstGeom>
          <a:noFill/>
        </p:spPr>
        <p:txBody>
          <a:bodyPr wrap="square" anchor="t" lIns="0" rIns="0" tIns="0" bIns="0">
            <a:spAutoFit/>
          </a:bodyPr>
          <a:lstStyle/>
          <a:p>
            <a:pPr algn="l">
              <a:lnSpc>
                <a:spcPct val="102000"/>
              </a:lnSpc>
              <a:spcAft>
                <a:spcPts val="400"/>
              </a:spcAft>
            </a:pPr>
            <a:r>
              <a:rPr sz="4400" b="1" i="0">
                <a:solidFill>
                  <a:srgbClr val="FFFFFF"/>
                </a:solidFill>
                <a:latin typeface="Segoe UI Semibold"/>
              </a:rPr>
              <a:t>Balancing Act</a:t>
            </a:r>
          </a:p>
          <a:p>
            <a:pPr algn="l">
              <a:lnSpc>
                <a:spcPct val="102000"/>
              </a:lnSpc>
              <a:spcAft>
                <a:spcPts val="400"/>
              </a:spcAft>
            </a:pPr>
            <a:r>
              <a:rPr sz="4400" b="1" i="0">
                <a:solidFill>
                  <a:srgbClr val="FFFFFF"/>
                </a:solidFill>
                <a:latin typeface="Segoe UI Semibold"/>
              </a:rPr>
              <a:t>Optimising Production, Distribution &amp; Inventory</a:t>
            </a:r>
          </a:p>
        </p:txBody>
      </p:sp>
      <p:sp>
        <p:nvSpPr>
          <p:cNvPr id="5" name="TextBox 4"/>
          <p:cNvSpPr txBox="1"/>
          <p:nvPr/>
        </p:nvSpPr>
        <p:spPr>
          <a:xfrm>
            <a:off x="822960" y="3520440"/>
            <a:ext cx="10058400" cy="457200"/>
          </a:xfrm>
          <a:prstGeom prst="rect">
            <a:avLst/>
          </a:prstGeom>
          <a:noFill/>
        </p:spPr>
        <p:txBody>
          <a:bodyPr wrap="square" anchor="t" lIns="0" rIns="0" tIns="0" bIns="0">
            <a:spAutoFit/>
          </a:bodyPr>
          <a:lstStyle/>
          <a:p>
            <a:pPr algn="l">
              <a:lnSpc>
                <a:spcPct val="100000"/>
              </a:lnSpc>
              <a:spcAft>
                <a:spcPts val="400"/>
              </a:spcAft>
            </a:pPr>
            <a:r>
              <a:rPr sz="1500" b="0" i="0">
                <a:solidFill>
                  <a:srgbClr val="CADCFC"/>
                </a:solidFill>
                <a:latin typeface="Segoe UI"/>
              </a:rPr>
              <a:t>Project 2 · January-2026 planning cycle · Final submission</a:t>
            </a:r>
          </a:p>
        </p:txBody>
      </p:sp>
      <p:sp>
        <p:nvSpPr>
          <p:cNvPr id="6" name="Rounded Rectangle 5"/>
          <p:cNvSpPr/>
          <p:nvPr/>
        </p:nvSpPr>
        <p:spPr>
          <a:xfrm>
            <a:off x="822960" y="4206240"/>
            <a:ext cx="2487168" cy="932688"/>
          </a:xfrm>
          <a:prstGeom prst="roundRect">
            <a:avLst>
              <a:gd name="adj" fmla="val 7000"/>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297680"/>
            <a:ext cx="2304288" cy="457200"/>
          </a:xfrm>
          <a:prstGeom prst="rect">
            <a:avLst/>
          </a:prstGeom>
          <a:noFill/>
        </p:spPr>
        <p:txBody>
          <a:bodyPr wrap="square" anchor="t" lIns="0" rIns="0" tIns="0" bIns="0">
            <a:spAutoFit/>
          </a:bodyPr>
          <a:lstStyle/>
          <a:p>
            <a:pPr algn="ctr">
              <a:lnSpc>
                <a:spcPct val="100000"/>
              </a:lnSpc>
              <a:spcAft>
                <a:spcPts val="400"/>
              </a:spcAft>
            </a:pPr>
            <a:r>
              <a:rPr sz="1900" b="1" i="0">
                <a:solidFill>
                  <a:srgbClr val="EDA100"/>
                </a:solidFill>
                <a:latin typeface="Segoe UI Semibold"/>
              </a:rPr>
              <a:t>₹11.44 cr</a:t>
            </a:r>
          </a:p>
        </p:txBody>
      </p:sp>
      <p:sp>
        <p:nvSpPr>
          <p:cNvPr id="8" name="TextBox 7"/>
          <p:cNvSpPr txBox="1"/>
          <p:nvPr/>
        </p:nvSpPr>
        <p:spPr>
          <a:xfrm>
            <a:off x="914400" y="4773168"/>
            <a:ext cx="2304288" cy="292608"/>
          </a:xfrm>
          <a:prstGeom prst="rect">
            <a:avLst/>
          </a:prstGeom>
          <a:noFill/>
        </p:spPr>
        <p:txBody>
          <a:bodyPr wrap="square" anchor="t" lIns="0" rIns="0" tIns="0" bIns="0">
            <a:spAutoFit/>
          </a:bodyPr>
          <a:lstStyle/>
          <a:p>
            <a:pPr algn="ctr">
              <a:lnSpc>
                <a:spcPct val="100000"/>
              </a:lnSpc>
              <a:spcAft>
                <a:spcPts val="400"/>
              </a:spcAft>
            </a:pPr>
            <a:r>
              <a:rPr sz="1000" b="0" i="0">
                <a:solidFill>
                  <a:srgbClr val="CADCFC"/>
                </a:solidFill>
                <a:latin typeface="Segoe UI"/>
              </a:rPr>
              <a:t>total cash cost</a:t>
            </a:r>
          </a:p>
        </p:txBody>
      </p:sp>
      <p:sp>
        <p:nvSpPr>
          <p:cNvPr id="9" name="Rounded Rectangle 8"/>
          <p:cNvSpPr/>
          <p:nvPr/>
        </p:nvSpPr>
        <p:spPr>
          <a:xfrm>
            <a:off x="3584448" y="4206240"/>
            <a:ext cx="2487168" cy="932688"/>
          </a:xfrm>
          <a:prstGeom prst="roundRect">
            <a:avLst>
              <a:gd name="adj" fmla="val 7000"/>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5887" y="4297680"/>
            <a:ext cx="2304288" cy="457200"/>
          </a:xfrm>
          <a:prstGeom prst="rect">
            <a:avLst/>
          </a:prstGeom>
          <a:noFill/>
        </p:spPr>
        <p:txBody>
          <a:bodyPr wrap="square" anchor="t" lIns="0" rIns="0" tIns="0" bIns="0">
            <a:spAutoFit/>
          </a:bodyPr>
          <a:lstStyle/>
          <a:p>
            <a:pPr algn="ctr">
              <a:lnSpc>
                <a:spcPct val="100000"/>
              </a:lnSpc>
              <a:spcAft>
                <a:spcPts val="400"/>
              </a:spcAft>
            </a:pPr>
            <a:r>
              <a:rPr sz="1900" b="1" i="0">
                <a:solidFill>
                  <a:srgbClr val="EDA100"/>
                </a:solidFill>
                <a:latin typeface="Segoe UI Semibold"/>
              </a:rPr>
              <a:t>0 kL</a:t>
            </a:r>
          </a:p>
        </p:txBody>
      </p:sp>
      <p:sp>
        <p:nvSpPr>
          <p:cNvPr id="11" name="TextBox 10"/>
          <p:cNvSpPr txBox="1"/>
          <p:nvPr/>
        </p:nvSpPr>
        <p:spPr>
          <a:xfrm>
            <a:off x="3675887" y="4773168"/>
            <a:ext cx="2304288" cy="292608"/>
          </a:xfrm>
          <a:prstGeom prst="rect">
            <a:avLst/>
          </a:prstGeom>
          <a:noFill/>
        </p:spPr>
        <p:txBody>
          <a:bodyPr wrap="square" anchor="t" lIns="0" rIns="0" tIns="0" bIns="0">
            <a:spAutoFit/>
          </a:bodyPr>
          <a:lstStyle/>
          <a:p>
            <a:pPr algn="ctr">
              <a:lnSpc>
                <a:spcPct val="100000"/>
              </a:lnSpc>
              <a:spcAft>
                <a:spcPts val="400"/>
              </a:spcAft>
            </a:pPr>
            <a:r>
              <a:rPr sz="1000" b="0" i="0">
                <a:solidFill>
                  <a:srgbClr val="CADCFC"/>
                </a:solidFill>
                <a:latin typeface="Segoe UI"/>
              </a:rPr>
              <a:t>demand unmet</a:t>
            </a:r>
          </a:p>
        </p:txBody>
      </p:sp>
      <p:sp>
        <p:nvSpPr>
          <p:cNvPr id="12" name="Rounded Rectangle 11"/>
          <p:cNvSpPr/>
          <p:nvPr/>
        </p:nvSpPr>
        <p:spPr>
          <a:xfrm>
            <a:off x="6345936" y="4206240"/>
            <a:ext cx="2487168" cy="932688"/>
          </a:xfrm>
          <a:prstGeom prst="roundRect">
            <a:avLst>
              <a:gd name="adj" fmla="val 7000"/>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297680"/>
            <a:ext cx="2304288" cy="457200"/>
          </a:xfrm>
          <a:prstGeom prst="rect">
            <a:avLst/>
          </a:prstGeom>
          <a:noFill/>
        </p:spPr>
        <p:txBody>
          <a:bodyPr wrap="square" anchor="t" lIns="0" rIns="0" tIns="0" bIns="0">
            <a:spAutoFit/>
          </a:bodyPr>
          <a:lstStyle/>
          <a:p>
            <a:pPr algn="ctr">
              <a:lnSpc>
                <a:spcPct val="100000"/>
              </a:lnSpc>
              <a:spcAft>
                <a:spcPts val="400"/>
              </a:spcAft>
            </a:pPr>
            <a:r>
              <a:rPr sz="1900" b="1" i="0">
                <a:solidFill>
                  <a:srgbClr val="EDA100"/>
                </a:solidFill>
                <a:latin typeface="Segoe UI Semibold"/>
              </a:rPr>
              <a:t>−56%</a:t>
            </a:r>
          </a:p>
        </p:txBody>
      </p:sp>
      <p:sp>
        <p:nvSpPr>
          <p:cNvPr id="14" name="TextBox 13"/>
          <p:cNvSpPr txBox="1"/>
          <p:nvPr/>
        </p:nvSpPr>
        <p:spPr>
          <a:xfrm>
            <a:off x="6437376" y="4773168"/>
            <a:ext cx="2304288" cy="292608"/>
          </a:xfrm>
          <a:prstGeom prst="rect">
            <a:avLst/>
          </a:prstGeom>
          <a:noFill/>
        </p:spPr>
        <p:txBody>
          <a:bodyPr wrap="square" anchor="t" lIns="0" rIns="0" tIns="0" bIns="0">
            <a:spAutoFit/>
          </a:bodyPr>
          <a:lstStyle/>
          <a:p>
            <a:pPr algn="ctr">
              <a:lnSpc>
                <a:spcPct val="100000"/>
              </a:lnSpc>
              <a:spcAft>
                <a:spcPts val="400"/>
              </a:spcAft>
            </a:pPr>
            <a:r>
              <a:rPr sz="1000" b="0" i="0">
                <a:solidFill>
                  <a:srgbClr val="CADCFC"/>
                </a:solidFill>
                <a:latin typeface="Segoe UI"/>
              </a:rPr>
              <a:t>safety stock released</a:t>
            </a:r>
          </a:p>
        </p:txBody>
      </p:sp>
      <p:sp>
        <p:nvSpPr>
          <p:cNvPr id="15" name="Rounded Rectangle 14"/>
          <p:cNvSpPr/>
          <p:nvPr/>
        </p:nvSpPr>
        <p:spPr>
          <a:xfrm>
            <a:off x="9107424" y="4206240"/>
            <a:ext cx="2487168" cy="932688"/>
          </a:xfrm>
          <a:prstGeom prst="roundRect">
            <a:avLst>
              <a:gd name="adj" fmla="val 7000"/>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98864" y="4297680"/>
            <a:ext cx="2304288" cy="457200"/>
          </a:xfrm>
          <a:prstGeom prst="rect">
            <a:avLst/>
          </a:prstGeom>
          <a:noFill/>
        </p:spPr>
        <p:txBody>
          <a:bodyPr wrap="square" anchor="t" lIns="0" rIns="0" tIns="0" bIns="0">
            <a:spAutoFit/>
          </a:bodyPr>
          <a:lstStyle/>
          <a:p>
            <a:pPr algn="ctr">
              <a:lnSpc>
                <a:spcPct val="100000"/>
              </a:lnSpc>
              <a:spcAft>
                <a:spcPts val="400"/>
              </a:spcAft>
            </a:pPr>
            <a:r>
              <a:rPr sz="1900" b="1" i="0">
                <a:solidFill>
                  <a:srgbClr val="EDA100"/>
                </a:solidFill>
                <a:latin typeface="Segoe UI Semibold"/>
              </a:rPr>
              <a:t>gap 0.0</a:t>
            </a:r>
          </a:p>
        </p:txBody>
      </p:sp>
      <p:sp>
        <p:nvSpPr>
          <p:cNvPr id="17" name="TextBox 16"/>
          <p:cNvSpPr txBox="1"/>
          <p:nvPr/>
        </p:nvSpPr>
        <p:spPr>
          <a:xfrm>
            <a:off x="9198864" y="4773168"/>
            <a:ext cx="2304288" cy="292608"/>
          </a:xfrm>
          <a:prstGeom prst="rect">
            <a:avLst/>
          </a:prstGeom>
          <a:noFill/>
        </p:spPr>
        <p:txBody>
          <a:bodyPr wrap="square" anchor="t" lIns="0" rIns="0" tIns="0" bIns="0">
            <a:spAutoFit/>
          </a:bodyPr>
          <a:lstStyle/>
          <a:p>
            <a:pPr algn="ctr">
              <a:lnSpc>
                <a:spcPct val="100000"/>
              </a:lnSpc>
              <a:spcAft>
                <a:spcPts val="400"/>
              </a:spcAft>
            </a:pPr>
            <a:r>
              <a:rPr sz="1000" b="0" i="0">
                <a:solidFill>
                  <a:srgbClr val="CADCFC"/>
                </a:solidFill>
                <a:latin typeface="Segoe UI"/>
              </a:rPr>
              <a:t>proven optimal</a:t>
            </a:r>
          </a:p>
        </p:txBody>
      </p:sp>
      <p:sp>
        <p:nvSpPr>
          <p:cNvPr id="18" name="TextBox 17"/>
          <p:cNvSpPr txBox="1"/>
          <p:nvPr/>
        </p:nvSpPr>
        <p:spPr>
          <a:xfrm>
            <a:off x="822960" y="5806440"/>
            <a:ext cx="10515600" cy="365760"/>
          </a:xfrm>
          <a:prstGeom prst="rect">
            <a:avLst/>
          </a:prstGeom>
          <a:noFill/>
        </p:spPr>
        <p:txBody>
          <a:bodyPr wrap="square" anchor="t" lIns="0" rIns="0" tIns="0" bIns="0">
            <a:spAutoFit/>
          </a:bodyPr>
          <a:lstStyle/>
          <a:p>
            <a:pPr algn="l">
              <a:lnSpc>
                <a:spcPct val="100000"/>
              </a:lnSpc>
              <a:spcAft>
                <a:spcPts val="400"/>
              </a:spcAft>
            </a:pPr>
            <a:r>
              <a:rPr sz="1300" b="0" i="1">
                <a:solidFill>
                  <a:srgbClr val="FFFFFF"/>
                </a:solidFill>
                <a:latin typeface="Segoe UI"/>
              </a:rPr>
              <a:t>One number to remember: every litre of January demand served — at the provably lowest cost.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02920" y="384048"/>
            <a:ext cx="128016"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C5CAB"/>
                </a:solidFill>
                <a:latin typeface="Segoe UI Semibold"/>
              </a:rPr>
              <a:t>AGENDA</a:t>
            </a:r>
          </a:p>
        </p:txBody>
      </p:sp>
      <p:sp>
        <p:nvSpPr>
          <p:cNvPr id="4" name="TextBox 3"/>
          <p:cNvSpPr txBox="1"/>
          <p:nvPr/>
        </p:nvSpPr>
        <p:spPr>
          <a:xfrm>
            <a:off x="777240" y="603504"/>
            <a:ext cx="10881360" cy="566928"/>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Three deliverables, one integrated system</a:t>
            </a:r>
          </a:p>
        </p:txBody>
      </p:sp>
      <p:sp>
        <p:nvSpPr>
          <p:cNvPr id="5" name="Rectangle 4"/>
          <p:cNvSpPr/>
          <p:nvPr/>
        </p:nvSpPr>
        <p:spPr>
          <a:xfrm>
            <a:off x="0" y="6656832"/>
            <a:ext cx="12191695" cy="201168"/>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675120"/>
            <a:ext cx="8229600" cy="182880"/>
          </a:xfrm>
          <a:prstGeom prst="rect">
            <a:avLst/>
          </a:prstGeom>
          <a:noFill/>
        </p:spPr>
        <p:txBody>
          <a:bodyPr wrap="square" anchor="t" lIns="0" rIns="0" tIns="0" bIns="0">
            <a:spAutoFit/>
          </a:bodyPr>
          <a:lstStyle/>
          <a:p>
            <a:pPr algn="l">
              <a:lnSpc>
                <a:spcPct val="100000"/>
              </a:lnSpc>
              <a:spcAft>
                <a:spcPts val="400"/>
              </a:spcAft>
            </a:pPr>
            <a:r>
              <a:rPr sz="800" b="0" i="0">
                <a:solidFill>
                  <a:srgbClr val="CADCFC"/>
                </a:solidFill>
                <a:latin typeface="Segoe UI"/>
              </a:rPr>
              <a:t>Levisol India · Production, Distribution &amp; Inventory Optimisation</a:t>
            </a:r>
          </a:p>
        </p:txBody>
      </p:sp>
      <p:sp>
        <p:nvSpPr>
          <p:cNvPr id="7" name="TextBox 6"/>
          <p:cNvSpPr txBox="1"/>
          <p:nvPr/>
        </p:nvSpPr>
        <p:spPr>
          <a:xfrm>
            <a:off x="11247120" y="6675120"/>
            <a:ext cx="640080" cy="182880"/>
          </a:xfrm>
          <a:prstGeom prst="rect">
            <a:avLst/>
          </a:prstGeom>
          <a:noFill/>
        </p:spPr>
        <p:txBody>
          <a:bodyPr wrap="square" anchor="t" lIns="0" rIns="0" tIns="0" bIns="0">
            <a:spAutoFit/>
          </a:bodyPr>
          <a:lstStyle/>
          <a:p>
            <a:pPr algn="r">
              <a:lnSpc>
                <a:spcPct val="100000"/>
              </a:lnSpc>
              <a:spcAft>
                <a:spcPts val="400"/>
              </a:spcAft>
            </a:pPr>
            <a:r>
              <a:rPr sz="800" b="0" i="0">
                <a:solidFill>
                  <a:srgbClr val="CADCFC"/>
                </a:solidFill>
                <a:latin typeface="Segoe UI"/>
              </a:rPr>
              <a:t>01</a:t>
            </a:r>
          </a:p>
        </p:txBody>
      </p:sp>
      <p:sp>
        <p:nvSpPr>
          <p:cNvPr id="8" name="Rounded Rectangle 7"/>
          <p:cNvSpPr/>
          <p:nvPr/>
        </p:nvSpPr>
        <p:spPr>
          <a:xfrm>
            <a:off x="640080" y="1691640"/>
            <a:ext cx="3520440" cy="3017520"/>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920240"/>
            <a:ext cx="914400" cy="731520"/>
          </a:xfrm>
          <a:prstGeom prst="rect">
            <a:avLst/>
          </a:prstGeom>
          <a:noFill/>
        </p:spPr>
        <p:txBody>
          <a:bodyPr wrap="square" anchor="t" lIns="0" rIns="0" tIns="0" bIns="0">
            <a:spAutoFit/>
          </a:bodyPr>
          <a:lstStyle/>
          <a:p>
            <a:pPr algn="l">
              <a:lnSpc>
                <a:spcPct val="100000"/>
              </a:lnSpc>
              <a:spcAft>
                <a:spcPts val="400"/>
              </a:spcAft>
            </a:pPr>
            <a:r>
              <a:rPr sz="4000" b="1" i="0">
                <a:solidFill>
                  <a:srgbClr val="B47A00"/>
                </a:solidFill>
                <a:latin typeface="Segoe UI Semibold"/>
              </a:rPr>
              <a:t>1</a:t>
            </a:r>
          </a:p>
        </p:txBody>
      </p:sp>
      <p:sp>
        <p:nvSpPr>
          <p:cNvPr id="10" name="TextBox 9"/>
          <p:cNvSpPr txBox="1"/>
          <p:nvPr/>
        </p:nvSpPr>
        <p:spPr>
          <a:xfrm>
            <a:off x="896112" y="2697480"/>
            <a:ext cx="3017520" cy="548640"/>
          </a:xfrm>
          <a:prstGeom prst="rect">
            <a:avLst/>
          </a:prstGeom>
          <a:noFill/>
        </p:spPr>
        <p:txBody>
          <a:bodyPr wrap="square" anchor="t" lIns="0" rIns="0" tIns="0" bIns="0">
            <a:spAutoFit/>
          </a:bodyPr>
          <a:lstStyle/>
          <a:p>
            <a:pPr algn="l">
              <a:lnSpc>
                <a:spcPct val="100000"/>
              </a:lnSpc>
              <a:spcAft>
                <a:spcPts val="400"/>
              </a:spcAft>
            </a:pPr>
            <a:r>
              <a:rPr sz="1500" b="1" i="0">
                <a:solidFill>
                  <a:srgbClr val="0D366B"/>
                </a:solidFill>
                <a:latin typeface="Segoe UI Semibold"/>
              </a:rPr>
              <a:t>INVENTORY NORMS</a:t>
            </a:r>
          </a:p>
        </p:txBody>
      </p:sp>
      <p:sp>
        <p:nvSpPr>
          <p:cNvPr id="11" name="TextBox 10"/>
          <p:cNvSpPr txBox="1"/>
          <p:nvPr/>
        </p:nvSpPr>
        <p:spPr>
          <a:xfrm>
            <a:off x="896112" y="3401568"/>
            <a:ext cx="3017520" cy="1188720"/>
          </a:xfrm>
          <a:prstGeom prst="rect">
            <a:avLst/>
          </a:prstGeom>
          <a:noFill/>
        </p:spPr>
        <p:txBody>
          <a:bodyPr wrap="square" anchor="t" lIns="0" rIns="0" tIns="0" bIns="0">
            <a:spAutoFit/>
          </a:bodyPr>
          <a:lstStyle/>
          <a:p>
            <a:pPr algn="l">
              <a:lnSpc>
                <a:spcPct val="115000"/>
              </a:lnSpc>
              <a:spcAft>
                <a:spcPts val="400"/>
              </a:spcAft>
            </a:pPr>
            <a:r>
              <a:rPr sz="1150" b="0" i="0">
                <a:solidFill>
                  <a:srgbClr val="52514E"/>
                </a:solidFill>
                <a:latin typeface="Segoe UI"/>
              </a:rPr>
              <a:t>Safety stock · reorder points · days of cover for 957 SKU × CFA rows and both hubs. Bias-corrected, multi-echelon, tier-differentiated.</a:t>
            </a:r>
          </a:p>
        </p:txBody>
      </p:sp>
      <p:sp>
        <p:nvSpPr>
          <p:cNvPr id="12" name="Rounded Rectangle 11"/>
          <p:cNvSpPr/>
          <p:nvPr/>
        </p:nvSpPr>
        <p:spPr>
          <a:xfrm>
            <a:off x="4416552" y="1691640"/>
            <a:ext cx="3520440" cy="3017520"/>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72584" y="1920240"/>
            <a:ext cx="914400" cy="731520"/>
          </a:xfrm>
          <a:prstGeom prst="rect">
            <a:avLst/>
          </a:prstGeom>
          <a:noFill/>
        </p:spPr>
        <p:txBody>
          <a:bodyPr wrap="square" anchor="t" lIns="0" rIns="0" tIns="0" bIns="0">
            <a:spAutoFit/>
          </a:bodyPr>
          <a:lstStyle/>
          <a:p>
            <a:pPr algn="l">
              <a:lnSpc>
                <a:spcPct val="100000"/>
              </a:lnSpc>
              <a:spcAft>
                <a:spcPts val="400"/>
              </a:spcAft>
            </a:pPr>
            <a:r>
              <a:rPr sz="4000" b="1" i="0">
                <a:solidFill>
                  <a:srgbClr val="B47A00"/>
                </a:solidFill>
                <a:latin typeface="Segoe UI Semibold"/>
              </a:rPr>
              <a:t>2</a:t>
            </a:r>
          </a:p>
        </p:txBody>
      </p:sp>
      <p:sp>
        <p:nvSpPr>
          <p:cNvPr id="14" name="TextBox 13"/>
          <p:cNvSpPr txBox="1"/>
          <p:nvPr/>
        </p:nvSpPr>
        <p:spPr>
          <a:xfrm>
            <a:off x="4672584" y="2697480"/>
            <a:ext cx="3017520" cy="548640"/>
          </a:xfrm>
          <a:prstGeom prst="rect">
            <a:avLst/>
          </a:prstGeom>
          <a:noFill/>
        </p:spPr>
        <p:txBody>
          <a:bodyPr wrap="square" anchor="t" lIns="0" rIns="0" tIns="0" bIns="0">
            <a:spAutoFit/>
          </a:bodyPr>
          <a:lstStyle/>
          <a:p>
            <a:pPr algn="l">
              <a:lnSpc>
                <a:spcPct val="100000"/>
              </a:lnSpc>
              <a:spcAft>
                <a:spcPts val="400"/>
              </a:spcAft>
            </a:pPr>
            <a:r>
              <a:rPr sz="1500" b="1" i="0">
                <a:solidFill>
                  <a:srgbClr val="0D366B"/>
                </a:solidFill>
                <a:latin typeface="Segoe UI Semibold"/>
              </a:rPr>
              <a:t>PRODUCTION &amp; DISTRIBUTION PLAN</a:t>
            </a:r>
          </a:p>
        </p:txBody>
      </p:sp>
      <p:sp>
        <p:nvSpPr>
          <p:cNvPr id="15" name="TextBox 14"/>
          <p:cNvSpPr txBox="1"/>
          <p:nvPr/>
        </p:nvSpPr>
        <p:spPr>
          <a:xfrm>
            <a:off x="4672584" y="3401568"/>
            <a:ext cx="3017520" cy="1188720"/>
          </a:xfrm>
          <a:prstGeom prst="rect">
            <a:avLst/>
          </a:prstGeom>
          <a:noFill/>
        </p:spPr>
        <p:txBody>
          <a:bodyPr wrap="square" anchor="t" lIns="0" rIns="0" tIns="0" bIns="0">
            <a:spAutoFit/>
          </a:bodyPr>
          <a:lstStyle/>
          <a:p>
            <a:pPr algn="l">
              <a:lnSpc>
                <a:spcPct val="115000"/>
              </a:lnSpc>
              <a:spcAft>
                <a:spcPts val="400"/>
              </a:spcAft>
            </a:pPr>
            <a:r>
              <a:rPr sz="1150" b="0" i="0">
                <a:solidFill>
                  <a:srgbClr val="52514E"/>
                </a:solidFill>
                <a:latin typeface="Segoe UI"/>
              </a:rPr>
              <a:t>7,725 kL in 309 exact batches, routed plant → hub → CFA at the provably lowest cost: ₹11.44 crore, zero lost sales.</a:t>
            </a:r>
          </a:p>
        </p:txBody>
      </p:sp>
      <p:sp>
        <p:nvSpPr>
          <p:cNvPr id="16" name="Rounded Rectangle 15"/>
          <p:cNvSpPr/>
          <p:nvPr/>
        </p:nvSpPr>
        <p:spPr>
          <a:xfrm>
            <a:off x="8193023" y="1691640"/>
            <a:ext cx="3520440" cy="3017520"/>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49055" y="1920240"/>
            <a:ext cx="914400" cy="731520"/>
          </a:xfrm>
          <a:prstGeom prst="rect">
            <a:avLst/>
          </a:prstGeom>
          <a:noFill/>
        </p:spPr>
        <p:txBody>
          <a:bodyPr wrap="square" anchor="t" lIns="0" rIns="0" tIns="0" bIns="0">
            <a:spAutoFit/>
          </a:bodyPr>
          <a:lstStyle/>
          <a:p>
            <a:pPr algn="l">
              <a:lnSpc>
                <a:spcPct val="100000"/>
              </a:lnSpc>
              <a:spcAft>
                <a:spcPts val="400"/>
              </a:spcAft>
            </a:pPr>
            <a:r>
              <a:rPr sz="4000" b="1" i="0">
                <a:solidFill>
                  <a:srgbClr val="B47A00"/>
                </a:solidFill>
                <a:latin typeface="Segoe UI Semibold"/>
              </a:rPr>
              <a:t>3</a:t>
            </a:r>
          </a:p>
        </p:txBody>
      </p:sp>
      <p:sp>
        <p:nvSpPr>
          <p:cNvPr id="18" name="TextBox 17"/>
          <p:cNvSpPr txBox="1"/>
          <p:nvPr/>
        </p:nvSpPr>
        <p:spPr>
          <a:xfrm>
            <a:off x="8449055" y="2697480"/>
            <a:ext cx="3017520" cy="548640"/>
          </a:xfrm>
          <a:prstGeom prst="rect">
            <a:avLst/>
          </a:prstGeom>
          <a:noFill/>
        </p:spPr>
        <p:txBody>
          <a:bodyPr wrap="square" anchor="t" lIns="0" rIns="0" tIns="0" bIns="0">
            <a:spAutoFit/>
          </a:bodyPr>
          <a:lstStyle/>
          <a:p>
            <a:pPr algn="l">
              <a:lnSpc>
                <a:spcPct val="100000"/>
              </a:lnSpc>
              <a:spcAft>
                <a:spcPts val="400"/>
              </a:spcAft>
            </a:pPr>
            <a:r>
              <a:rPr sz="1500" b="1" i="0">
                <a:solidFill>
                  <a:srgbClr val="0D366B"/>
                </a:solidFill>
                <a:latin typeface="Segoe UI Semibold"/>
              </a:rPr>
              <a:t>THE PLANNING TOOL</a:t>
            </a:r>
          </a:p>
        </p:txBody>
      </p:sp>
      <p:sp>
        <p:nvSpPr>
          <p:cNvPr id="19" name="TextBox 18"/>
          <p:cNvSpPr txBox="1"/>
          <p:nvPr/>
        </p:nvSpPr>
        <p:spPr>
          <a:xfrm>
            <a:off x="8449055" y="3401568"/>
            <a:ext cx="3017520" cy="1188720"/>
          </a:xfrm>
          <a:prstGeom prst="rect">
            <a:avLst/>
          </a:prstGeom>
          <a:noFill/>
        </p:spPr>
        <p:txBody>
          <a:bodyPr wrap="square" anchor="t" lIns="0" rIns="0" tIns="0" bIns="0">
            <a:spAutoFit/>
          </a:bodyPr>
          <a:lstStyle/>
          <a:p>
            <a:pPr algn="l">
              <a:lnSpc>
                <a:spcPct val="115000"/>
              </a:lnSpc>
              <a:spcAft>
                <a:spcPts val="400"/>
              </a:spcAft>
            </a:pPr>
            <a:r>
              <a:rPr sz="1150" b="0" i="0">
                <a:solidFill>
                  <a:srgbClr val="52514E"/>
                </a:solidFill>
                <a:latin typeface="Segoe UI"/>
              </a:rPr>
              <a:t>One workbook in, one decision pack out — in minutes. Editable inputs, graceful infeasibility, planner-friendly.</a:t>
            </a:r>
          </a:p>
        </p:txBody>
      </p:sp>
      <p:sp>
        <p:nvSpPr>
          <p:cNvPr id="20" name="Rounded Rectangle 19"/>
          <p:cNvSpPr/>
          <p:nvPr/>
        </p:nvSpPr>
        <p:spPr>
          <a:xfrm>
            <a:off x="640080" y="5074920"/>
            <a:ext cx="10972800" cy="960120"/>
          </a:xfrm>
          <a:prstGeom prst="roundRect">
            <a:avLst>
              <a:gd name="adj" fmla="val 7000"/>
            </a:avLst>
          </a:prstGeom>
          <a:solidFill>
            <a:srgbClr val="E2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257800"/>
            <a:ext cx="10424160" cy="640080"/>
          </a:xfrm>
          <a:prstGeom prst="rect">
            <a:avLst/>
          </a:prstGeom>
          <a:noFill/>
        </p:spPr>
        <p:txBody>
          <a:bodyPr wrap="square" anchor="t" lIns="0" rIns="0" tIns="0" bIns="0">
            <a:spAutoFit/>
          </a:bodyPr>
          <a:lstStyle/>
          <a:p>
            <a:pPr algn="l">
              <a:lnSpc>
                <a:spcPct val="100000"/>
              </a:lnSpc>
              <a:spcAft>
                <a:spcPts val="400"/>
              </a:spcAft>
            </a:pPr>
            <a:r>
              <a:rPr sz="1250" b="1" i="0">
                <a:solidFill>
                  <a:srgbClr val="006300"/>
                </a:solidFill>
                <a:latin typeface="Segoe UI Semibold"/>
              </a:rPr>
              <a:t>Plus the proof:  </a:t>
            </a:r>
            <a:r>
              <a:rPr sz="1250" b="0" i="0">
                <a:solidFill>
                  <a:srgbClr val="0B0B0B"/>
                </a:solidFill>
                <a:latin typeface="Segoe UI"/>
              </a:rPr>
              <a:t>four independent audits, a fresh-code recomputation of every norm (max deviation 10⁻¹⁴ kL), an optimality cross-check, and three assessment-day stress scenarios run end-to-end.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02920" y="384048"/>
            <a:ext cx="128016"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C5CAB"/>
                </a:solidFill>
                <a:latin typeface="Segoe UI Semibold"/>
              </a:rPr>
              <a:t>CONTEXT</a:t>
            </a:r>
          </a:p>
        </p:txBody>
      </p:sp>
      <p:sp>
        <p:nvSpPr>
          <p:cNvPr id="4" name="TextBox 3"/>
          <p:cNvSpPr txBox="1"/>
          <p:nvPr/>
        </p:nvSpPr>
        <p:spPr>
          <a:xfrm>
            <a:off x="777240" y="603504"/>
            <a:ext cx="10881360" cy="566928"/>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A base-oil shock meets a 3-tier network at full stretch</a:t>
            </a:r>
          </a:p>
        </p:txBody>
      </p:sp>
      <p:sp>
        <p:nvSpPr>
          <p:cNvPr id="5" name="Rectangle 4"/>
          <p:cNvSpPr/>
          <p:nvPr/>
        </p:nvSpPr>
        <p:spPr>
          <a:xfrm>
            <a:off x="0" y="6656832"/>
            <a:ext cx="12191695" cy="201168"/>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675120"/>
            <a:ext cx="8229600" cy="182880"/>
          </a:xfrm>
          <a:prstGeom prst="rect">
            <a:avLst/>
          </a:prstGeom>
          <a:noFill/>
        </p:spPr>
        <p:txBody>
          <a:bodyPr wrap="square" anchor="t" lIns="0" rIns="0" tIns="0" bIns="0">
            <a:spAutoFit/>
          </a:bodyPr>
          <a:lstStyle/>
          <a:p>
            <a:pPr algn="l">
              <a:lnSpc>
                <a:spcPct val="100000"/>
              </a:lnSpc>
              <a:spcAft>
                <a:spcPts val="400"/>
              </a:spcAft>
            </a:pPr>
            <a:r>
              <a:rPr sz="800" b="0" i="0">
                <a:solidFill>
                  <a:srgbClr val="CADCFC"/>
                </a:solidFill>
                <a:latin typeface="Segoe UI"/>
              </a:rPr>
              <a:t>Levisol India · Production, Distribution &amp; Inventory Optimisation</a:t>
            </a:r>
          </a:p>
        </p:txBody>
      </p:sp>
      <p:sp>
        <p:nvSpPr>
          <p:cNvPr id="7" name="TextBox 6"/>
          <p:cNvSpPr txBox="1"/>
          <p:nvPr/>
        </p:nvSpPr>
        <p:spPr>
          <a:xfrm>
            <a:off x="11247120" y="6675120"/>
            <a:ext cx="640080" cy="182880"/>
          </a:xfrm>
          <a:prstGeom prst="rect">
            <a:avLst/>
          </a:prstGeom>
          <a:noFill/>
        </p:spPr>
        <p:txBody>
          <a:bodyPr wrap="square" anchor="t" lIns="0" rIns="0" tIns="0" bIns="0">
            <a:spAutoFit/>
          </a:bodyPr>
          <a:lstStyle/>
          <a:p>
            <a:pPr algn="r">
              <a:lnSpc>
                <a:spcPct val="100000"/>
              </a:lnSpc>
              <a:spcAft>
                <a:spcPts val="400"/>
              </a:spcAft>
            </a:pPr>
            <a:r>
              <a:rPr sz="800" b="0" i="0">
                <a:solidFill>
                  <a:srgbClr val="CADCFC"/>
                </a:solidFill>
                <a:latin typeface="Segoe UI"/>
              </a:rPr>
              <a:t>02</a:t>
            </a:r>
          </a:p>
        </p:txBody>
      </p:sp>
      <p:sp>
        <p:nvSpPr>
          <p:cNvPr id="8" name="TextBox 7"/>
          <p:cNvSpPr txBox="1"/>
          <p:nvPr/>
        </p:nvSpPr>
        <p:spPr>
          <a:xfrm>
            <a:off x="731520" y="1783080"/>
            <a:ext cx="5577840" cy="960120"/>
          </a:xfrm>
          <a:prstGeom prst="rect">
            <a:avLst/>
          </a:prstGeom>
          <a:noFill/>
        </p:spPr>
        <p:txBody>
          <a:bodyPr wrap="square" anchor="t" lIns="0" rIns="0" tIns="0" bIns="0">
            <a:spAutoFit/>
          </a:bodyPr>
          <a:lstStyle/>
          <a:p>
            <a:pPr algn="l">
              <a:lnSpc>
                <a:spcPct val="115000"/>
              </a:lnSpc>
              <a:spcAft>
                <a:spcPts val="400"/>
              </a:spcAft>
            </a:pPr>
            <a:r>
              <a:rPr sz="1300" b="1" i="0">
                <a:solidFill>
                  <a:srgbClr val="0D366B"/>
                </a:solidFill>
                <a:latin typeface="Segoe UI Semibold"/>
              </a:rPr>
              <a:t>The dual mandate. </a:t>
            </a:r>
            <a:r>
              <a:rPr sz="1300" b="0" i="0">
                <a:solidFill>
                  <a:srgbClr val="0B0B0B"/>
                </a:solidFill>
                <a:latin typeface="Segoe UI"/>
              </a:rPr>
              <a:t>“Protect service on critical SKUs while rapidly releasing cash and reducing distribution cost” — the CSCO's war-room brief.</a:t>
            </a:r>
          </a:p>
        </p:txBody>
      </p:sp>
      <p:sp>
        <p:nvSpPr>
          <p:cNvPr id="9" name="TextBox 8"/>
          <p:cNvSpPr txBox="1"/>
          <p:nvPr/>
        </p:nvSpPr>
        <p:spPr>
          <a:xfrm>
            <a:off x="731520" y="2807208"/>
            <a:ext cx="5577840" cy="960120"/>
          </a:xfrm>
          <a:prstGeom prst="rect">
            <a:avLst/>
          </a:prstGeom>
          <a:noFill/>
        </p:spPr>
        <p:txBody>
          <a:bodyPr wrap="square" anchor="t" lIns="0" rIns="0" tIns="0" bIns="0">
            <a:spAutoFit/>
          </a:bodyPr>
          <a:lstStyle/>
          <a:p>
            <a:pPr algn="l">
              <a:lnSpc>
                <a:spcPct val="115000"/>
              </a:lnSpc>
              <a:spcAft>
                <a:spcPts val="400"/>
              </a:spcAft>
            </a:pPr>
            <a:r>
              <a:rPr sz="1300" b="1" i="0">
                <a:solidFill>
                  <a:srgbClr val="0D366B"/>
                </a:solidFill>
                <a:latin typeface="Segoe UI Semibold"/>
              </a:rPr>
              <a:t>Demand exceeds cheap capacity. </a:t>
            </a:r>
            <a:r>
              <a:rPr sz="1300" b="0" i="0">
                <a:solidFill>
                  <a:srgbClr val="0B0B0B"/>
                </a:solidFill>
                <a:latin typeface="Segoe UI"/>
              </a:rPr>
              <a:t>January forecast is 8,109.7 kL; the cheapest lines at KOL and BOM cannot cover it alone — every routing choice has a cost.</a:t>
            </a:r>
          </a:p>
        </p:txBody>
      </p:sp>
      <p:sp>
        <p:nvSpPr>
          <p:cNvPr id="10" name="TextBox 9"/>
          <p:cNvSpPr txBox="1"/>
          <p:nvPr/>
        </p:nvSpPr>
        <p:spPr>
          <a:xfrm>
            <a:off x="731520" y="3831336"/>
            <a:ext cx="5577840" cy="960120"/>
          </a:xfrm>
          <a:prstGeom prst="rect">
            <a:avLst/>
          </a:prstGeom>
          <a:noFill/>
        </p:spPr>
        <p:txBody>
          <a:bodyPr wrap="square" anchor="t" lIns="0" rIns="0" tIns="0" bIns="0">
            <a:spAutoFit/>
          </a:bodyPr>
          <a:lstStyle/>
          <a:p>
            <a:pPr algn="l">
              <a:lnSpc>
                <a:spcPct val="115000"/>
              </a:lnSpc>
              <a:spcAft>
                <a:spcPts val="400"/>
              </a:spcAft>
            </a:pPr>
            <a:r>
              <a:rPr sz="1300" b="1" i="0">
                <a:solidFill>
                  <a:srgbClr val="0D366B"/>
                </a:solidFill>
                <a:latin typeface="Segoe UI Semibold"/>
              </a:rPr>
              <a:t>Failure is expensive. </a:t>
            </a:r>
            <a:r>
              <a:rPr sz="1300" b="0" i="0">
                <a:solidFill>
                  <a:srgbClr val="0B0B0B"/>
                </a:solidFill>
                <a:latin typeface="Segoe UI"/>
              </a:rPr>
              <a:t>Unmet demand carries penalties of ₹130k–330k per kL; 18 SKUs carry contractual commitments that must be protected first.</a:t>
            </a:r>
          </a:p>
        </p:txBody>
      </p:sp>
      <p:sp>
        <p:nvSpPr>
          <p:cNvPr id="11" name="Rounded Rectangle 10"/>
          <p:cNvSpPr/>
          <p:nvPr/>
        </p:nvSpPr>
        <p:spPr>
          <a:xfrm>
            <a:off x="6720840" y="1783080"/>
            <a:ext cx="2423160" cy="1078992"/>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30568" y="1892807"/>
            <a:ext cx="2203704" cy="502920"/>
          </a:xfrm>
          <a:prstGeom prst="rect">
            <a:avLst/>
          </a:prstGeom>
          <a:noFill/>
        </p:spPr>
        <p:txBody>
          <a:bodyPr wrap="square" anchor="t" lIns="0" rIns="0" tIns="0" bIns="0">
            <a:spAutoFit/>
          </a:bodyPr>
          <a:lstStyle/>
          <a:p>
            <a:pPr algn="ctr">
              <a:lnSpc>
                <a:spcPct val="100000"/>
              </a:lnSpc>
              <a:spcAft>
                <a:spcPts val="400"/>
              </a:spcAft>
            </a:pPr>
            <a:r>
              <a:rPr sz="2100" b="1" i="0">
                <a:solidFill>
                  <a:srgbClr val="0D366B"/>
                </a:solidFill>
                <a:latin typeface="Segoe UI Semibold"/>
              </a:rPr>
              <a:t>3</a:t>
            </a:r>
          </a:p>
        </p:txBody>
      </p:sp>
      <p:sp>
        <p:nvSpPr>
          <p:cNvPr id="13" name="TextBox 12"/>
          <p:cNvSpPr txBox="1"/>
          <p:nvPr/>
        </p:nvSpPr>
        <p:spPr>
          <a:xfrm>
            <a:off x="6830568" y="2386584"/>
            <a:ext cx="2203704" cy="438912"/>
          </a:xfrm>
          <a:prstGeom prst="rect">
            <a:avLst/>
          </a:prstGeom>
          <a:noFill/>
        </p:spPr>
        <p:txBody>
          <a:bodyPr wrap="square" anchor="t" lIns="0" rIns="0" tIns="0" bIns="0">
            <a:spAutoFit/>
          </a:bodyPr>
          <a:lstStyle/>
          <a:p>
            <a:pPr algn="ctr">
              <a:lnSpc>
                <a:spcPct val="95000"/>
              </a:lnSpc>
              <a:spcAft>
                <a:spcPts val="400"/>
              </a:spcAft>
            </a:pPr>
            <a:r>
              <a:rPr sz="950" b="0" i="0">
                <a:solidFill>
                  <a:srgbClr val="52514E"/>
                </a:solidFill>
                <a:latin typeface="Segoe UI"/>
              </a:rPr>
              <a:t>plants · ₹9k–12.5k/kL</a:t>
            </a:r>
          </a:p>
        </p:txBody>
      </p:sp>
      <p:sp>
        <p:nvSpPr>
          <p:cNvPr id="14" name="Rounded Rectangle 13"/>
          <p:cNvSpPr/>
          <p:nvPr/>
        </p:nvSpPr>
        <p:spPr>
          <a:xfrm>
            <a:off x="9326880" y="1783080"/>
            <a:ext cx="2423160" cy="1078992"/>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36607" y="1892807"/>
            <a:ext cx="2203704" cy="502920"/>
          </a:xfrm>
          <a:prstGeom prst="rect">
            <a:avLst/>
          </a:prstGeom>
          <a:noFill/>
        </p:spPr>
        <p:txBody>
          <a:bodyPr wrap="square" anchor="t" lIns="0" rIns="0" tIns="0" bIns="0">
            <a:spAutoFit/>
          </a:bodyPr>
          <a:lstStyle/>
          <a:p>
            <a:pPr algn="ctr">
              <a:lnSpc>
                <a:spcPct val="100000"/>
              </a:lnSpc>
              <a:spcAft>
                <a:spcPts val="400"/>
              </a:spcAft>
            </a:pPr>
            <a:r>
              <a:rPr sz="2100" b="1" i="0">
                <a:solidFill>
                  <a:srgbClr val="0D366B"/>
                </a:solidFill>
                <a:latin typeface="Segoe UI Semibold"/>
              </a:rPr>
              <a:t>2</a:t>
            </a:r>
          </a:p>
        </p:txBody>
      </p:sp>
      <p:sp>
        <p:nvSpPr>
          <p:cNvPr id="16" name="TextBox 15"/>
          <p:cNvSpPr txBox="1"/>
          <p:nvPr/>
        </p:nvSpPr>
        <p:spPr>
          <a:xfrm>
            <a:off x="9436607" y="2386584"/>
            <a:ext cx="2203704" cy="438912"/>
          </a:xfrm>
          <a:prstGeom prst="rect">
            <a:avLst/>
          </a:prstGeom>
          <a:noFill/>
        </p:spPr>
        <p:txBody>
          <a:bodyPr wrap="square" anchor="t" lIns="0" rIns="0" tIns="0" bIns="0">
            <a:spAutoFit/>
          </a:bodyPr>
          <a:lstStyle/>
          <a:p>
            <a:pPr algn="ctr">
              <a:lnSpc>
                <a:spcPct val="95000"/>
              </a:lnSpc>
              <a:spcAft>
                <a:spcPts val="400"/>
              </a:spcAft>
            </a:pPr>
            <a:r>
              <a:rPr sz="950" b="0" i="0">
                <a:solidFill>
                  <a:srgbClr val="52514E"/>
                </a:solidFill>
                <a:latin typeface="Segoe UI"/>
              </a:rPr>
              <a:t>mother hubs</a:t>
            </a:r>
          </a:p>
        </p:txBody>
      </p:sp>
      <p:sp>
        <p:nvSpPr>
          <p:cNvPr id="17" name="Rounded Rectangle 16"/>
          <p:cNvSpPr/>
          <p:nvPr/>
        </p:nvSpPr>
        <p:spPr>
          <a:xfrm>
            <a:off x="6720840" y="3026664"/>
            <a:ext cx="2423160" cy="1078992"/>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30568" y="3136392"/>
            <a:ext cx="2203704" cy="502920"/>
          </a:xfrm>
          <a:prstGeom prst="rect">
            <a:avLst/>
          </a:prstGeom>
          <a:noFill/>
        </p:spPr>
        <p:txBody>
          <a:bodyPr wrap="square" anchor="t" lIns="0" rIns="0" tIns="0" bIns="0">
            <a:spAutoFit/>
          </a:bodyPr>
          <a:lstStyle/>
          <a:p>
            <a:pPr algn="ctr">
              <a:lnSpc>
                <a:spcPct val="100000"/>
              </a:lnSpc>
              <a:spcAft>
                <a:spcPts val="400"/>
              </a:spcAft>
            </a:pPr>
            <a:r>
              <a:rPr sz="2100" b="1" i="0">
                <a:solidFill>
                  <a:srgbClr val="0D366B"/>
                </a:solidFill>
                <a:latin typeface="Segoe UI Semibold"/>
              </a:rPr>
              <a:t>10</a:t>
            </a:r>
          </a:p>
        </p:txBody>
      </p:sp>
      <p:sp>
        <p:nvSpPr>
          <p:cNvPr id="19" name="TextBox 18"/>
          <p:cNvSpPr txBox="1"/>
          <p:nvPr/>
        </p:nvSpPr>
        <p:spPr>
          <a:xfrm>
            <a:off x="6830568" y="3630168"/>
            <a:ext cx="2203704" cy="438912"/>
          </a:xfrm>
          <a:prstGeom prst="rect">
            <a:avLst/>
          </a:prstGeom>
          <a:noFill/>
        </p:spPr>
        <p:txBody>
          <a:bodyPr wrap="square" anchor="t" lIns="0" rIns="0" tIns="0" bIns="0">
            <a:spAutoFit/>
          </a:bodyPr>
          <a:lstStyle/>
          <a:p>
            <a:pPr algn="ctr">
              <a:lnSpc>
                <a:spcPct val="95000"/>
              </a:lnSpc>
              <a:spcAft>
                <a:spcPts val="400"/>
              </a:spcAft>
            </a:pPr>
            <a:r>
              <a:rPr sz="950" b="0" i="0">
                <a:solidFill>
                  <a:srgbClr val="52514E"/>
                </a:solidFill>
                <a:latin typeface="Segoe UI"/>
              </a:rPr>
              <a:t>CFA warehouses</a:t>
            </a:r>
          </a:p>
        </p:txBody>
      </p:sp>
      <p:sp>
        <p:nvSpPr>
          <p:cNvPr id="20" name="Rounded Rectangle 19"/>
          <p:cNvSpPr/>
          <p:nvPr/>
        </p:nvSpPr>
        <p:spPr>
          <a:xfrm>
            <a:off x="9326880" y="3026664"/>
            <a:ext cx="2423160" cy="1078992"/>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36607" y="3136392"/>
            <a:ext cx="2203704" cy="502920"/>
          </a:xfrm>
          <a:prstGeom prst="rect">
            <a:avLst/>
          </a:prstGeom>
          <a:noFill/>
        </p:spPr>
        <p:txBody>
          <a:bodyPr wrap="square" anchor="t" lIns="0" rIns="0" tIns="0" bIns="0">
            <a:spAutoFit/>
          </a:bodyPr>
          <a:lstStyle/>
          <a:p>
            <a:pPr algn="ctr">
              <a:lnSpc>
                <a:spcPct val="100000"/>
              </a:lnSpc>
              <a:spcAft>
                <a:spcPts val="400"/>
              </a:spcAft>
            </a:pPr>
            <a:r>
              <a:rPr sz="2100" b="1" i="0">
                <a:solidFill>
                  <a:srgbClr val="0D366B"/>
                </a:solidFill>
                <a:latin typeface="Segoe UI Semibold"/>
              </a:rPr>
              <a:t>100</a:t>
            </a:r>
          </a:p>
        </p:txBody>
      </p:sp>
      <p:sp>
        <p:nvSpPr>
          <p:cNvPr id="22" name="TextBox 21"/>
          <p:cNvSpPr txBox="1"/>
          <p:nvPr/>
        </p:nvSpPr>
        <p:spPr>
          <a:xfrm>
            <a:off x="9436607" y="3630168"/>
            <a:ext cx="2203704" cy="438912"/>
          </a:xfrm>
          <a:prstGeom prst="rect">
            <a:avLst/>
          </a:prstGeom>
          <a:noFill/>
        </p:spPr>
        <p:txBody>
          <a:bodyPr wrap="square" anchor="t" lIns="0" rIns="0" tIns="0" bIns="0">
            <a:spAutoFit/>
          </a:bodyPr>
          <a:lstStyle/>
          <a:p>
            <a:pPr algn="ctr">
              <a:lnSpc>
                <a:spcPct val="95000"/>
              </a:lnSpc>
              <a:spcAft>
                <a:spcPts val="400"/>
              </a:spcAft>
            </a:pPr>
            <a:r>
              <a:rPr sz="950" b="0" i="0">
                <a:solidFill>
                  <a:srgbClr val="52514E"/>
                </a:solidFill>
                <a:latin typeface="Segoe UI"/>
              </a:rPr>
              <a:t>SKUs · 5 lines</a:t>
            </a:r>
          </a:p>
        </p:txBody>
      </p:sp>
      <p:sp>
        <p:nvSpPr>
          <p:cNvPr id="23" name="Rounded Rectangle 22"/>
          <p:cNvSpPr/>
          <p:nvPr/>
        </p:nvSpPr>
        <p:spPr>
          <a:xfrm>
            <a:off x="6720840" y="4270248"/>
            <a:ext cx="2423160" cy="1078992"/>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30568" y="4379976"/>
            <a:ext cx="2203704" cy="502920"/>
          </a:xfrm>
          <a:prstGeom prst="rect">
            <a:avLst/>
          </a:prstGeom>
          <a:noFill/>
        </p:spPr>
        <p:txBody>
          <a:bodyPr wrap="square" anchor="t" lIns="0" rIns="0" tIns="0" bIns="0">
            <a:spAutoFit/>
          </a:bodyPr>
          <a:lstStyle/>
          <a:p>
            <a:pPr algn="ctr">
              <a:lnSpc>
                <a:spcPct val="100000"/>
              </a:lnSpc>
              <a:spcAft>
                <a:spcPts val="400"/>
              </a:spcAft>
            </a:pPr>
            <a:r>
              <a:rPr sz="2100" b="1" i="0">
                <a:solidFill>
                  <a:srgbClr val="0D366B"/>
                </a:solidFill>
                <a:latin typeface="Segoe UI Semibold"/>
              </a:rPr>
              <a:t>957</a:t>
            </a:r>
          </a:p>
        </p:txBody>
      </p:sp>
      <p:sp>
        <p:nvSpPr>
          <p:cNvPr id="25" name="TextBox 24"/>
          <p:cNvSpPr txBox="1"/>
          <p:nvPr/>
        </p:nvSpPr>
        <p:spPr>
          <a:xfrm>
            <a:off x="6830568" y="4873752"/>
            <a:ext cx="2203704" cy="438912"/>
          </a:xfrm>
          <a:prstGeom prst="rect">
            <a:avLst/>
          </a:prstGeom>
          <a:noFill/>
        </p:spPr>
        <p:txBody>
          <a:bodyPr wrap="square" anchor="t" lIns="0" rIns="0" tIns="0" bIns="0">
            <a:spAutoFit/>
          </a:bodyPr>
          <a:lstStyle/>
          <a:p>
            <a:pPr algn="ctr">
              <a:lnSpc>
                <a:spcPct val="95000"/>
              </a:lnSpc>
              <a:spcAft>
                <a:spcPts val="400"/>
              </a:spcAft>
            </a:pPr>
            <a:r>
              <a:rPr sz="950" b="0" i="0">
                <a:solidFill>
                  <a:srgbClr val="52514E"/>
                </a:solidFill>
                <a:latin typeface="Segoe UI"/>
              </a:rPr>
              <a:t>SKU × CFA rows</a:t>
            </a:r>
          </a:p>
        </p:txBody>
      </p:sp>
      <p:sp>
        <p:nvSpPr>
          <p:cNvPr id="26" name="Rounded Rectangle 25"/>
          <p:cNvSpPr/>
          <p:nvPr/>
        </p:nvSpPr>
        <p:spPr>
          <a:xfrm>
            <a:off x="9326880" y="4270248"/>
            <a:ext cx="2423160" cy="1078992"/>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36607" y="4379976"/>
            <a:ext cx="2203704" cy="502920"/>
          </a:xfrm>
          <a:prstGeom prst="rect">
            <a:avLst/>
          </a:prstGeom>
          <a:noFill/>
        </p:spPr>
        <p:txBody>
          <a:bodyPr wrap="square" anchor="t" lIns="0" rIns="0" tIns="0" bIns="0">
            <a:spAutoFit/>
          </a:bodyPr>
          <a:lstStyle/>
          <a:p>
            <a:pPr algn="ctr">
              <a:lnSpc>
                <a:spcPct val="100000"/>
              </a:lnSpc>
              <a:spcAft>
                <a:spcPts val="400"/>
              </a:spcAft>
            </a:pPr>
            <a:r>
              <a:rPr sz="2100" b="1" i="0">
                <a:solidFill>
                  <a:srgbClr val="0D366B"/>
                </a:solidFill>
                <a:latin typeface="Segoe UI Semibold"/>
              </a:rPr>
              <a:t>8,110</a:t>
            </a:r>
          </a:p>
        </p:txBody>
      </p:sp>
      <p:sp>
        <p:nvSpPr>
          <p:cNvPr id="28" name="TextBox 27"/>
          <p:cNvSpPr txBox="1"/>
          <p:nvPr/>
        </p:nvSpPr>
        <p:spPr>
          <a:xfrm>
            <a:off x="9436607" y="4873752"/>
            <a:ext cx="2203704" cy="438912"/>
          </a:xfrm>
          <a:prstGeom prst="rect">
            <a:avLst/>
          </a:prstGeom>
          <a:noFill/>
        </p:spPr>
        <p:txBody>
          <a:bodyPr wrap="square" anchor="t" lIns="0" rIns="0" tIns="0" bIns="0">
            <a:spAutoFit/>
          </a:bodyPr>
          <a:lstStyle/>
          <a:p>
            <a:pPr algn="ctr">
              <a:lnSpc>
                <a:spcPct val="95000"/>
              </a:lnSpc>
              <a:spcAft>
                <a:spcPts val="400"/>
              </a:spcAft>
            </a:pPr>
            <a:r>
              <a:rPr sz="950" b="0" i="0">
                <a:solidFill>
                  <a:srgbClr val="52514E"/>
                </a:solidFill>
                <a:latin typeface="Segoe UI"/>
              </a:rPr>
              <a:t>kL Jan demand</a:t>
            </a:r>
          </a:p>
        </p:txBody>
      </p:sp>
      <p:sp>
        <p:nvSpPr>
          <p:cNvPr id="29" name="TextBox 28"/>
          <p:cNvSpPr txBox="1"/>
          <p:nvPr/>
        </p:nvSpPr>
        <p:spPr>
          <a:xfrm>
            <a:off x="731520" y="5897880"/>
            <a:ext cx="10972800" cy="457200"/>
          </a:xfrm>
          <a:prstGeom prst="rect">
            <a:avLst/>
          </a:prstGeom>
          <a:noFill/>
        </p:spPr>
        <p:txBody>
          <a:bodyPr wrap="square" anchor="t" lIns="0" rIns="0" tIns="0" bIns="0">
            <a:spAutoFit/>
          </a:bodyPr>
          <a:lstStyle/>
          <a:p>
            <a:pPr algn="l">
              <a:lnSpc>
                <a:spcPct val="100000"/>
              </a:lnSpc>
              <a:spcAft>
                <a:spcPts val="400"/>
              </a:spcAft>
            </a:pPr>
            <a:r>
              <a:rPr sz="1250" b="0" i="1">
                <a:solidFill>
                  <a:srgbClr val="52514E"/>
                </a:solidFill>
                <a:latin typeface="Segoe UI"/>
              </a:rPr>
              <a:t>Every decision below was made under this trade-off — and each one is quantified.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02920" y="384048"/>
            <a:ext cx="128016"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C5CAB"/>
                </a:solidFill>
                <a:latin typeface="Segoe UI Semibold"/>
              </a:rPr>
              <a:t>DATA</a:t>
            </a:r>
          </a:p>
        </p:txBody>
      </p:sp>
      <p:sp>
        <p:nvSpPr>
          <p:cNvPr id="4" name="TextBox 3"/>
          <p:cNvSpPr txBox="1"/>
          <p:nvPr/>
        </p:nvSpPr>
        <p:spPr>
          <a:xfrm>
            <a:off x="777240" y="603504"/>
            <a:ext cx="10881360" cy="566928"/>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Eleven exhibits, one source of truth — read in full, validated row by row</a:t>
            </a:r>
          </a:p>
        </p:txBody>
      </p:sp>
      <p:sp>
        <p:nvSpPr>
          <p:cNvPr id="5" name="Rectangle 4"/>
          <p:cNvSpPr/>
          <p:nvPr/>
        </p:nvSpPr>
        <p:spPr>
          <a:xfrm>
            <a:off x="0" y="6656832"/>
            <a:ext cx="12191695" cy="201168"/>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675120"/>
            <a:ext cx="8229600" cy="182880"/>
          </a:xfrm>
          <a:prstGeom prst="rect">
            <a:avLst/>
          </a:prstGeom>
          <a:noFill/>
        </p:spPr>
        <p:txBody>
          <a:bodyPr wrap="square" anchor="t" lIns="0" rIns="0" tIns="0" bIns="0">
            <a:spAutoFit/>
          </a:bodyPr>
          <a:lstStyle/>
          <a:p>
            <a:pPr algn="l">
              <a:lnSpc>
                <a:spcPct val="100000"/>
              </a:lnSpc>
              <a:spcAft>
                <a:spcPts val="400"/>
              </a:spcAft>
            </a:pPr>
            <a:r>
              <a:rPr sz="800" b="0" i="0">
                <a:solidFill>
                  <a:srgbClr val="CADCFC"/>
                </a:solidFill>
                <a:latin typeface="Segoe UI"/>
              </a:rPr>
              <a:t>Levisol India · Production, Distribution &amp; Inventory Optimisation</a:t>
            </a:r>
          </a:p>
        </p:txBody>
      </p:sp>
      <p:sp>
        <p:nvSpPr>
          <p:cNvPr id="7" name="TextBox 6"/>
          <p:cNvSpPr txBox="1"/>
          <p:nvPr/>
        </p:nvSpPr>
        <p:spPr>
          <a:xfrm>
            <a:off x="11247120" y="6675120"/>
            <a:ext cx="640080" cy="182880"/>
          </a:xfrm>
          <a:prstGeom prst="rect">
            <a:avLst/>
          </a:prstGeom>
          <a:noFill/>
        </p:spPr>
        <p:txBody>
          <a:bodyPr wrap="square" anchor="t" lIns="0" rIns="0" tIns="0" bIns="0">
            <a:spAutoFit/>
          </a:bodyPr>
          <a:lstStyle/>
          <a:p>
            <a:pPr algn="r">
              <a:lnSpc>
                <a:spcPct val="100000"/>
              </a:lnSpc>
              <a:spcAft>
                <a:spcPts val="400"/>
              </a:spcAft>
            </a:pPr>
            <a:r>
              <a:rPr sz="800" b="0" i="0">
                <a:solidFill>
                  <a:srgbClr val="CADCFC"/>
                </a:solidFill>
                <a:latin typeface="Segoe UI"/>
              </a:rPr>
              <a:t>03</a:t>
            </a:r>
          </a:p>
        </p:txBody>
      </p:sp>
      <p:graphicFrame>
        <p:nvGraphicFramePr>
          <p:cNvPr id="8" name="Table 7"/>
          <p:cNvGraphicFramePr>
            <a:graphicFrameLocks noGrp="1"/>
          </p:cNvGraphicFramePr>
          <p:nvPr/>
        </p:nvGraphicFramePr>
        <p:xfrm>
          <a:off x="640080" y="1737360"/>
          <a:ext cx="6583680" cy="2487168"/>
        </p:xfrm>
        <a:graphic>
          <a:graphicData uri="http://schemas.openxmlformats.org/drawingml/2006/table">
            <a:tbl>
              <a:tblPr firstRow="0" bandRow="0">
                <a:tableStyleId>{5C22544A-7EE6-4342-B048-85BDC9FD1C3A}</a:tableStyleId>
              </a:tblPr>
              <a:tblGrid>
                <a:gridCol w="1005840"/>
                <a:gridCol w="3566160"/>
                <a:gridCol w="2011680"/>
              </a:tblGrid>
              <a:tr h="310896">
                <a:tc>
                  <a:txBody>
                    <a:bodyPr wrap="square"/>
                    <a:lstStyle/>
                    <a:p>
                      <a:pPr algn="l"/>
                      <a:r>
                        <a:rPr sz="1050" b="1">
                          <a:solidFill>
                            <a:srgbClr val="FFFFFF"/>
                          </a:solidFill>
                          <a:latin typeface="Segoe UI Semibold"/>
                        </a:rPr>
                        <a:t>Exhibit</a:t>
                      </a:r>
                    </a:p>
                  </a:txBody>
                  <a:tcPr marT="25400" marB="25400">
                    <a:solidFill>
                      <a:srgbClr val="0D366B"/>
                    </a:solidFill>
                  </a:tcPr>
                </a:tc>
                <a:tc>
                  <a:txBody>
                    <a:bodyPr wrap="square"/>
                    <a:lstStyle/>
                    <a:p>
                      <a:pPr algn="r"/>
                      <a:r>
                        <a:rPr sz="1050" b="1">
                          <a:solidFill>
                            <a:srgbClr val="FFFFFF"/>
                          </a:solidFill>
                          <a:latin typeface="Segoe UI Semibold"/>
                        </a:rPr>
                        <a:t>Content</a:t>
                      </a:r>
                    </a:p>
                  </a:txBody>
                  <a:tcPr marT="25400" marB="25400">
                    <a:solidFill>
                      <a:srgbClr val="0D366B"/>
                    </a:solidFill>
                  </a:tcPr>
                </a:tc>
                <a:tc>
                  <a:txBody>
                    <a:bodyPr wrap="square"/>
                    <a:lstStyle/>
                    <a:p>
                      <a:pPr algn="r"/>
                      <a:r>
                        <a:rPr sz="1050" b="1">
                          <a:solidFill>
                            <a:srgbClr val="FFFFFF"/>
                          </a:solidFill>
                          <a:latin typeface="Segoe UI Semibold"/>
                        </a:rPr>
                        <a:t>Role</a:t>
                      </a:r>
                    </a:p>
                  </a:txBody>
                  <a:tcPr marT="25400" marB="25400">
                    <a:solidFill>
                      <a:srgbClr val="0D366B"/>
                    </a:solidFill>
                  </a:tcPr>
                </a:tc>
              </a:tr>
              <a:tr h="310896">
                <a:tc>
                  <a:txBody>
                    <a:bodyPr wrap="square"/>
                    <a:lstStyle/>
                    <a:p>
                      <a:pPr algn="l"/>
                      <a:r>
                        <a:rPr sz="1050">
                          <a:solidFill>
                            <a:srgbClr val="0B0B0B"/>
                          </a:solidFill>
                          <a:latin typeface="Segoe UI"/>
                        </a:rPr>
                        <a:t>A</a:t>
                      </a:r>
                    </a:p>
                  </a:txBody>
                  <a:tcPr marT="25400" marB="25400">
                    <a:solidFill>
                      <a:srgbClr val="FCFCFB"/>
                    </a:solidFill>
                  </a:tcPr>
                </a:tc>
                <a:tc>
                  <a:txBody>
                    <a:bodyPr wrap="square"/>
                    <a:lstStyle/>
                    <a:p>
                      <a:pPr algn="r"/>
                      <a:r>
                        <a:rPr sz="1050">
                          <a:solidFill>
                            <a:srgbClr val="0B0B0B"/>
                          </a:solidFill>
                          <a:latin typeface="Segoe UI"/>
                        </a:rPr>
                        <a:t>plant line capacities · production ₹/kL</a:t>
                      </a:r>
                    </a:p>
                  </a:txBody>
                  <a:tcPr marT="25400" marB="25400">
                    <a:solidFill>
                      <a:srgbClr val="FCFCFB"/>
                    </a:solidFill>
                  </a:tcPr>
                </a:tc>
                <a:tc>
                  <a:txBody>
                    <a:bodyPr wrap="square"/>
                    <a:lstStyle/>
                    <a:p>
                      <a:pPr algn="r"/>
                      <a:r>
                        <a:rPr sz="1050">
                          <a:solidFill>
                            <a:srgbClr val="0B0B0B"/>
                          </a:solidFill>
                          <a:latin typeface="Segoe UI"/>
                        </a:rPr>
                        <a:t>hard constraints</a:t>
                      </a:r>
                    </a:p>
                  </a:txBody>
                  <a:tcPr marT="25400" marB="25400">
                    <a:solidFill>
                      <a:srgbClr val="FCFCFB"/>
                    </a:solidFill>
                  </a:tcPr>
                </a:tc>
              </a:tr>
              <a:tr h="310896">
                <a:tc>
                  <a:txBody>
                    <a:bodyPr wrap="square"/>
                    <a:lstStyle/>
                    <a:p>
                      <a:pPr algn="l"/>
                      <a:r>
                        <a:rPr sz="1050">
                          <a:solidFill>
                            <a:srgbClr val="0B0B0B"/>
                          </a:solidFill>
                          <a:latin typeface="Segoe UI"/>
                        </a:rPr>
                        <a:t>B · C</a:t>
                      </a:r>
                    </a:p>
                  </a:txBody>
                  <a:tcPr marT="25400" marB="25400">
                    <a:solidFill>
                      <a:srgbClr val="F0F4FA"/>
                    </a:solidFill>
                  </a:tcPr>
                </a:tc>
                <a:tc>
                  <a:txBody>
                    <a:bodyPr wrap="square"/>
                    <a:lstStyle/>
                    <a:p>
                      <a:pPr algn="r"/>
                      <a:r>
                        <a:rPr sz="1050">
                          <a:solidFill>
                            <a:srgbClr val="0B0B0B"/>
                          </a:solidFill>
                          <a:latin typeface="Segoe UI"/>
                        </a:rPr>
                        <a:t>freight rates (plant→hub, hub→CFA)</a:t>
                      </a:r>
                    </a:p>
                  </a:txBody>
                  <a:tcPr marT="25400" marB="25400">
                    <a:solidFill>
                      <a:srgbClr val="F0F4FA"/>
                    </a:solidFill>
                  </a:tcPr>
                </a:tc>
                <a:tc>
                  <a:txBody>
                    <a:bodyPr wrap="square"/>
                    <a:lstStyle/>
                    <a:p>
                      <a:pPr algn="r"/>
                      <a:r>
                        <a:rPr sz="1050">
                          <a:solidFill>
                            <a:srgbClr val="0B0B0B"/>
                          </a:solidFill>
                          <a:latin typeface="Segoe UI"/>
                        </a:rPr>
                        <a:t>cost drivers</a:t>
                      </a:r>
                    </a:p>
                  </a:txBody>
                  <a:tcPr marT="25400" marB="25400">
                    <a:solidFill>
                      <a:srgbClr val="F0F4FA"/>
                    </a:solidFill>
                  </a:tcPr>
                </a:tc>
              </a:tr>
              <a:tr h="310896">
                <a:tc>
                  <a:txBody>
                    <a:bodyPr wrap="square"/>
                    <a:lstStyle/>
                    <a:p>
                      <a:pPr algn="l"/>
                      <a:r>
                        <a:rPr sz="1050">
                          <a:solidFill>
                            <a:srgbClr val="0B0B0B"/>
                          </a:solidFill>
                          <a:latin typeface="Segoe UI"/>
                        </a:rPr>
                        <a:t>D</a:t>
                      </a:r>
                    </a:p>
                  </a:txBody>
                  <a:tcPr marT="25400" marB="25400">
                    <a:solidFill>
                      <a:srgbClr val="FCFCFB"/>
                    </a:solidFill>
                  </a:tcPr>
                </a:tc>
                <a:tc>
                  <a:txBody>
                    <a:bodyPr wrap="square"/>
                    <a:lstStyle/>
                    <a:p>
                      <a:pPr algn="r"/>
                      <a:r>
                        <a:rPr sz="1050">
                          <a:solidFill>
                            <a:srgbClr val="0B0B0B"/>
                          </a:solidFill>
                          <a:latin typeface="Segoe UI"/>
                        </a:rPr>
                        <a:t>penalties ₹/kL · 18 contractual SKUs</a:t>
                      </a:r>
                    </a:p>
                  </a:txBody>
                  <a:tcPr marT="25400" marB="25400">
                    <a:solidFill>
                      <a:srgbClr val="FCFCFB"/>
                    </a:solidFill>
                  </a:tcPr>
                </a:tc>
                <a:tc>
                  <a:txBody>
                    <a:bodyPr wrap="square"/>
                    <a:lstStyle/>
                    <a:p>
                      <a:pPr algn="r"/>
                      <a:r>
                        <a:rPr sz="1050">
                          <a:solidFill>
                            <a:srgbClr val="0B0B0B"/>
                          </a:solidFill>
                          <a:latin typeface="Segoe UI"/>
                        </a:rPr>
                        <a:t>shortage priority</a:t>
                      </a:r>
                    </a:p>
                  </a:txBody>
                  <a:tcPr marT="25400" marB="25400">
                    <a:solidFill>
                      <a:srgbClr val="FCFCFB"/>
                    </a:solidFill>
                  </a:tcPr>
                </a:tc>
              </a:tr>
              <a:tr h="310896">
                <a:tc>
                  <a:txBody>
                    <a:bodyPr wrap="square"/>
                    <a:lstStyle/>
                    <a:p>
                      <a:pPr algn="l"/>
                      <a:r>
                        <a:rPr sz="1050">
                          <a:solidFill>
                            <a:srgbClr val="0B0B0B"/>
                          </a:solidFill>
                          <a:latin typeface="Segoe UI"/>
                        </a:rPr>
                        <a:t>E</a:t>
                      </a:r>
                    </a:p>
                  </a:txBody>
                  <a:tcPr marT="25400" marB="25400">
                    <a:solidFill>
                      <a:srgbClr val="F0F4FA"/>
                    </a:solidFill>
                  </a:tcPr>
                </a:tc>
                <a:tc>
                  <a:txBody>
                    <a:bodyPr wrap="square"/>
                    <a:lstStyle/>
                    <a:p>
                      <a:pPr algn="r"/>
                      <a:r>
                        <a:rPr sz="1050">
                          <a:solidFill>
                            <a:srgbClr val="0B0B0B"/>
                          </a:solidFill>
                          <a:latin typeface="Segoe UI"/>
                        </a:rPr>
                        <a:t>source + lead times &amp; variability</a:t>
                      </a:r>
                    </a:p>
                  </a:txBody>
                  <a:tcPr marT="25400" marB="25400">
                    <a:solidFill>
                      <a:srgbClr val="F0F4FA"/>
                    </a:solidFill>
                  </a:tcPr>
                </a:tc>
                <a:tc>
                  <a:txBody>
                    <a:bodyPr wrap="square"/>
                    <a:lstStyle/>
                    <a:p>
                      <a:pPr algn="r"/>
                      <a:r>
                        <a:rPr sz="1050">
                          <a:solidFill>
                            <a:srgbClr val="0B0B0B"/>
                          </a:solidFill>
                          <a:latin typeface="Segoe UI"/>
                        </a:rPr>
                        <a:t>norm inputs</a:t>
                      </a:r>
                    </a:p>
                  </a:txBody>
                  <a:tcPr marT="25400" marB="25400">
                    <a:solidFill>
                      <a:srgbClr val="F0F4FA"/>
                    </a:solidFill>
                  </a:tcPr>
                </a:tc>
              </a:tr>
              <a:tr h="310896">
                <a:tc>
                  <a:txBody>
                    <a:bodyPr wrap="square"/>
                    <a:lstStyle/>
                    <a:p>
                      <a:pPr algn="l"/>
                      <a:r>
                        <a:rPr sz="1050">
                          <a:solidFill>
                            <a:srgbClr val="0B0B0B"/>
                          </a:solidFill>
                          <a:latin typeface="Segoe UI"/>
                        </a:rPr>
                        <a:t>F</a:t>
                      </a:r>
                    </a:p>
                  </a:txBody>
                  <a:tcPr marT="25400" marB="25400">
                    <a:solidFill>
                      <a:srgbClr val="FCFCFB"/>
                    </a:solidFill>
                  </a:tcPr>
                </a:tc>
                <a:tc>
                  <a:txBody>
                    <a:bodyPr wrap="square"/>
                    <a:lstStyle/>
                    <a:p>
                      <a:pPr algn="r"/>
                      <a:r>
                        <a:rPr sz="1050">
                          <a:solidFill>
                            <a:srgbClr val="0B0B0B"/>
                          </a:solidFill>
                          <a:latin typeface="Segoe UI"/>
                        </a:rPr>
                        <a:t>tier fill-rate targets (98/97/92/92%)</a:t>
                      </a:r>
                    </a:p>
                  </a:txBody>
                  <a:tcPr marT="25400" marB="25400">
                    <a:solidFill>
                      <a:srgbClr val="FCFCFB"/>
                    </a:solidFill>
                  </a:tcPr>
                </a:tc>
                <a:tc>
                  <a:txBody>
                    <a:bodyPr wrap="square"/>
                    <a:lstStyle/>
                    <a:p>
                      <a:pPr algn="r"/>
                      <a:r>
                        <a:rPr sz="1050">
                          <a:solidFill>
                            <a:srgbClr val="0B0B0B"/>
                          </a:solidFill>
                          <a:latin typeface="Segoe UI"/>
                        </a:rPr>
                        <a:t>service levels</a:t>
                      </a:r>
                    </a:p>
                  </a:txBody>
                  <a:tcPr marT="25400" marB="25400">
                    <a:solidFill>
                      <a:srgbClr val="FCFCFB"/>
                    </a:solidFill>
                  </a:tcPr>
                </a:tc>
              </a:tr>
              <a:tr h="310896">
                <a:tc>
                  <a:txBody>
                    <a:bodyPr wrap="square"/>
                    <a:lstStyle/>
                    <a:p>
                      <a:pPr algn="l"/>
                      <a:r>
                        <a:rPr sz="1050">
                          <a:solidFill>
                            <a:srgbClr val="0B0B0B"/>
                          </a:solidFill>
                          <a:latin typeface="Segoe UI"/>
                        </a:rPr>
                        <a:t>G · H</a:t>
                      </a:r>
                    </a:p>
                  </a:txBody>
                  <a:tcPr marT="25400" marB="25400">
                    <a:solidFill>
                      <a:srgbClr val="F0F4FA"/>
                    </a:solidFill>
                  </a:tcPr>
                </a:tc>
                <a:tc>
                  <a:txBody>
                    <a:bodyPr wrap="square"/>
                    <a:lstStyle/>
                    <a:p>
                      <a:pPr algn="r"/>
                      <a:r>
                        <a:rPr sz="1050">
                          <a:solidFill>
                            <a:srgbClr val="0B0B0B"/>
                          </a:solidFill>
                          <a:latin typeface="Segoe UI"/>
                        </a:rPr>
                        <a:t>6-month sales &amp; forecast history</a:t>
                      </a:r>
                    </a:p>
                  </a:txBody>
                  <a:tcPr marT="25400" marB="25400">
                    <a:solidFill>
                      <a:srgbClr val="F0F4FA"/>
                    </a:solidFill>
                  </a:tcPr>
                </a:tc>
                <a:tc>
                  <a:txBody>
                    <a:bodyPr wrap="square"/>
                    <a:lstStyle/>
                    <a:p>
                      <a:pPr algn="r"/>
                      <a:r>
                        <a:rPr sz="1050">
                          <a:solidFill>
                            <a:srgbClr val="0B0B0B"/>
                          </a:solidFill>
                          <a:latin typeface="Segoe UI"/>
                        </a:rPr>
                        <a:t>σ estimation · tiers</a:t>
                      </a:r>
                    </a:p>
                  </a:txBody>
                  <a:tcPr marT="25400" marB="25400">
                    <a:solidFill>
                      <a:srgbClr val="F0F4FA"/>
                    </a:solidFill>
                  </a:tcPr>
                </a:tc>
              </a:tr>
              <a:tr h="310896">
                <a:tc>
                  <a:txBody>
                    <a:bodyPr wrap="square"/>
                    <a:lstStyle/>
                    <a:p>
                      <a:pPr algn="l"/>
                      <a:r>
                        <a:rPr sz="1050">
                          <a:solidFill>
                            <a:srgbClr val="0B0B0B"/>
                          </a:solidFill>
                          <a:latin typeface="Segoe UI"/>
                        </a:rPr>
                        <a:t>I · J</a:t>
                      </a:r>
                    </a:p>
                  </a:txBody>
                  <a:tcPr marT="25400" marB="25400">
                    <a:solidFill>
                      <a:srgbClr val="FCFCFB"/>
                    </a:solidFill>
                  </a:tcPr>
                </a:tc>
                <a:tc>
                  <a:txBody>
                    <a:bodyPr wrap="square"/>
                    <a:lstStyle/>
                    <a:p>
                      <a:pPr algn="r"/>
                      <a:r>
                        <a:rPr sz="1050">
                          <a:solidFill>
                            <a:srgbClr val="0B0B0B"/>
                          </a:solidFill>
                          <a:latin typeface="Segoe UI"/>
                        </a:rPr>
                        <a:t>opening inventory · January forecast</a:t>
                      </a:r>
                    </a:p>
                  </a:txBody>
                  <a:tcPr marT="25400" marB="25400">
                    <a:solidFill>
                      <a:srgbClr val="FCFCFB"/>
                    </a:solidFill>
                  </a:tcPr>
                </a:tc>
                <a:tc>
                  <a:txBody>
                    <a:bodyPr wrap="square"/>
                    <a:lstStyle/>
                    <a:p>
                      <a:pPr algn="r"/>
                      <a:r>
                        <a:rPr sz="1050">
                          <a:solidFill>
                            <a:srgbClr val="0B0B0B"/>
                          </a:solidFill>
                          <a:latin typeface="Segoe UI"/>
                        </a:rPr>
                        <a:t>net requirements</a:t>
                      </a:r>
                    </a:p>
                  </a:txBody>
                  <a:tcPr marT="25400" marB="25400">
                    <a:solidFill>
                      <a:srgbClr val="FCFCFB"/>
                    </a:solidFill>
                  </a:tcPr>
                </a:tc>
              </a:tr>
            </a:tbl>
          </a:graphicData>
        </a:graphic>
      </p:graphicFrame>
      <p:sp>
        <p:nvSpPr>
          <p:cNvPr id="9" name="Rounded Rectangle 8"/>
          <p:cNvSpPr/>
          <p:nvPr/>
        </p:nvSpPr>
        <p:spPr>
          <a:xfrm>
            <a:off x="7543800" y="1737360"/>
            <a:ext cx="4069080" cy="2377440"/>
          </a:xfrm>
          <a:prstGeom prst="roundRect">
            <a:avLst>
              <a:gd name="adj" fmla="val 7000"/>
            </a:avLst>
          </a:prstGeom>
          <a:solidFill>
            <a:srgbClr val="FDF1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1874519"/>
            <a:ext cx="3657600" cy="320040"/>
          </a:xfrm>
          <a:prstGeom prst="rect">
            <a:avLst/>
          </a:prstGeom>
          <a:noFill/>
        </p:spPr>
        <p:txBody>
          <a:bodyPr wrap="square" anchor="t" lIns="0" rIns="0" tIns="0" bIns="0">
            <a:spAutoFit/>
          </a:bodyPr>
          <a:lstStyle/>
          <a:p>
            <a:pPr algn="l">
              <a:lnSpc>
                <a:spcPct val="100000"/>
              </a:lnSpc>
              <a:spcAft>
                <a:spcPts val="400"/>
              </a:spcAft>
            </a:pPr>
            <a:r>
              <a:rPr sz="1100" b="1" i="0">
                <a:solidFill>
                  <a:srgbClr val="B47A00"/>
                </a:solidFill>
                <a:latin typeface="Segoe UI Semibold"/>
              </a:rPr>
              <a:t>DISCREPANCY RESOLVED</a:t>
            </a:r>
          </a:p>
        </p:txBody>
      </p:sp>
      <p:sp>
        <p:nvSpPr>
          <p:cNvPr id="11" name="TextBox 10"/>
          <p:cNvSpPr txBox="1"/>
          <p:nvPr/>
        </p:nvSpPr>
        <p:spPr>
          <a:xfrm>
            <a:off x="7772400" y="2212848"/>
            <a:ext cx="3657600" cy="1828800"/>
          </a:xfrm>
          <a:prstGeom prst="rect">
            <a:avLst/>
          </a:prstGeom>
          <a:noFill/>
        </p:spPr>
        <p:txBody>
          <a:bodyPr wrap="square" anchor="t" lIns="0" rIns="0" tIns="0" bIns="0">
            <a:spAutoFit/>
          </a:bodyPr>
          <a:lstStyle/>
          <a:p>
            <a:pPr algn="l">
              <a:lnSpc>
                <a:spcPct val="115000"/>
              </a:lnSpc>
              <a:spcAft>
                <a:spcPts val="400"/>
              </a:spcAft>
            </a:pPr>
            <a:r>
              <a:rPr sz="1100" b="0" i="0">
                <a:solidFill>
                  <a:srgbClr val="0B0B0B"/>
                </a:solidFill>
                <a:latin typeface="Segoe UI"/>
              </a:rPr>
              <a:t>PDF Exhibit A reads as “KOL @ ₹200/kL” — a layout artefact. The machine-readable workbook takes precedence (case rule): BOM ₹12,000 · AHM ₹12,500 · KOL ₹9,000 per kL.</a:t>
            </a:r>
          </a:p>
        </p:txBody>
      </p:sp>
      <p:sp>
        <p:nvSpPr>
          <p:cNvPr id="12" name="Rounded Rectangle 11"/>
          <p:cNvSpPr/>
          <p:nvPr/>
        </p:nvSpPr>
        <p:spPr>
          <a:xfrm>
            <a:off x="7543800" y="4297680"/>
            <a:ext cx="4069080" cy="1737360"/>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4434840"/>
            <a:ext cx="3657600" cy="320040"/>
          </a:xfrm>
          <a:prstGeom prst="rect">
            <a:avLst/>
          </a:prstGeom>
          <a:noFill/>
        </p:spPr>
        <p:txBody>
          <a:bodyPr wrap="square" anchor="t" lIns="0" rIns="0" tIns="0" bIns="0">
            <a:spAutoFit/>
          </a:bodyPr>
          <a:lstStyle/>
          <a:p>
            <a:pPr algn="l">
              <a:lnSpc>
                <a:spcPct val="100000"/>
              </a:lnSpc>
              <a:spcAft>
                <a:spcPts val="400"/>
              </a:spcAft>
            </a:pPr>
            <a:r>
              <a:rPr sz="1100" b="1" i="0">
                <a:solidFill>
                  <a:srgbClr val="0D366B"/>
                </a:solidFill>
                <a:latin typeface="Segoe UI Semibold"/>
              </a:rPr>
              <a:t>DATA QUALITY LEDGER</a:t>
            </a:r>
          </a:p>
        </p:txBody>
      </p:sp>
      <p:sp>
        <p:nvSpPr>
          <p:cNvPr id="14" name="TextBox 13"/>
          <p:cNvSpPr txBox="1"/>
          <p:nvPr/>
        </p:nvSpPr>
        <p:spPr>
          <a:xfrm>
            <a:off x="7772400" y="4773168"/>
            <a:ext cx="3657600" cy="1234440"/>
          </a:xfrm>
          <a:prstGeom prst="rect">
            <a:avLst/>
          </a:prstGeom>
          <a:noFill/>
        </p:spPr>
        <p:txBody>
          <a:bodyPr wrap="square" anchor="t" lIns="0" rIns="0" tIns="0" bIns="0">
            <a:spAutoFit/>
          </a:bodyPr>
          <a:lstStyle/>
          <a:p>
            <a:pPr algn="l">
              <a:lnSpc>
                <a:spcPct val="120000"/>
              </a:lnSpc>
              <a:spcAft>
                <a:spcPts val="400"/>
              </a:spcAft>
            </a:pPr>
            <a:r>
              <a:rPr sz="1100" b="0" i="0">
                <a:solidFill>
                  <a:srgbClr val="52514E"/>
                </a:solidFill>
                <a:latin typeface="Segoe UI"/>
              </a:rPr>
              <a:t>957 keys align across all sheets · 16 zero-history rows flagged · 2 negative cells (returns) kept · AHM 50LT usable capacity = 200 kL (batch rule)</a:t>
            </a:r>
          </a:p>
        </p:txBody>
      </p:sp>
      <p:sp>
        <p:nvSpPr>
          <p:cNvPr id="15" name="TextBox 14"/>
          <p:cNvSpPr txBox="1"/>
          <p:nvPr/>
        </p:nvSpPr>
        <p:spPr>
          <a:xfrm>
            <a:off x="640080" y="5989320"/>
            <a:ext cx="6400800" cy="365760"/>
          </a:xfrm>
          <a:prstGeom prst="rect">
            <a:avLst/>
          </a:prstGeom>
          <a:noFill/>
        </p:spPr>
        <p:txBody>
          <a:bodyPr wrap="square" anchor="t" lIns="0" rIns="0" tIns="0" bIns="0">
            <a:spAutoFit/>
          </a:bodyPr>
          <a:lstStyle/>
          <a:p>
            <a:pPr algn="l">
              <a:lnSpc>
                <a:spcPct val="100000"/>
              </a:lnSpc>
              <a:spcAft>
                <a:spcPts val="400"/>
              </a:spcAft>
            </a:pPr>
            <a:r>
              <a:rPr sz="1050" b="0" i="1">
                <a:solidFill>
                  <a:srgbClr val="898781"/>
                </a:solidFill>
                <a:latin typeface="Segoe UI"/>
              </a:rPr>
              <a:t>Full traceability table in the report,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02920" y="384048"/>
            <a:ext cx="128016"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C5CAB"/>
                </a:solidFill>
                <a:latin typeface="Segoe UI Semibold"/>
              </a:rPr>
              <a:t>COMPONENT 1 · METHODOLOGY</a:t>
            </a:r>
          </a:p>
        </p:txBody>
      </p:sp>
      <p:sp>
        <p:nvSpPr>
          <p:cNvPr id="4" name="TextBox 3"/>
          <p:cNvSpPr txBox="1"/>
          <p:nvPr/>
        </p:nvSpPr>
        <p:spPr>
          <a:xfrm>
            <a:off x="777240" y="603504"/>
            <a:ext cx="10881360" cy="566928"/>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Three fixes separate our norms from a textbook default</a:t>
            </a:r>
          </a:p>
        </p:txBody>
      </p:sp>
      <p:sp>
        <p:nvSpPr>
          <p:cNvPr id="5" name="Rectangle 4"/>
          <p:cNvSpPr/>
          <p:nvPr/>
        </p:nvSpPr>
        <p:spPr>
          <a:xfrm>
            <a:off x="0" y="6656832"/>
            <a:ext cx="12191695" cy="201168"/>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675120"/>
            <a:ext cx="8229600" cy="182880"/>
          </a:xfrm>
          <a:prstGeom prst="rect">
            <a:avLst/>
          </a:prstGeom>
          <a:noFill/>
        </p:spPr>
        <p:txBody>
          <a:bodyPr wrap="square" anchor="t" lIns="0" rIns="0" tIns="0" bIns="0">
            <a:spAutoFit/>
          </a:bodyPr>
          <a:lstStyle/>
          <a:p>
            <a:pPr algn="l">
              <a:lnSpc>
                <a:spcPct val="100000"/>
              </a:lnSpc>
              <a:spcAft>
                <a:spcPts val="400"/>
              </a:spcAft>
            </a:pPr>
            <a:r>
              <a:rPr sz="800" b="0" i="0">
                <a:solidFill>
                  <a:srgbClr val="CADCFC"/>
                </a:solidFill>
                <a:latin typeface="Segoe UI"/>
              </a:rPr>
              <a:t>Levisol India · Production, Distribution &amp; Inventory Optimisation</a:t>
            </a:r>
          </a:p>
        </p:txBody>
      </p:sp>
      <p:sp>
        <p:nvSpPr>
          <p:cNvPr id="7" name="TextBox 6"/>
          <p:cNvSpPr txBox="1"/>
          <p:nvPr/>
        </p:nvSpPr>
        <p:spPr>
          <a:xfrm>
            <a:off x="11247120" y="6675120"/>
            <a:ext cx="640080" cy="182880"/>
          </a:xfrm>
          <a:prstGeom prst="rect">
            <a:avLst/>
          </a:prstGeom>
          <a:noFill/>
        </p:spPr>
        <p:txBody>
          <a:bodyPr wrap="square" anchor="t" lIns="0" rIns="0" tIns="0" bIns="0">
            <a:spAutoFit/>
          </a:bodyPr>
          <a:lstStyle/>
          <a:p>
            <a:pPr algn="r">
              <a:lnSpc>
                <a:spcPct val="100000"/>
              </a:lnSpc>
              <a:spcAft>
                <a:spcPts val="400"/>
              </a:spcAft>
            </a:pPr>
            <a:r>
              <a:rPr sz="800" b="0" i="0">
                <a:solidFill>
                  <a:srgbClr val="CADCFC"/>
                </a:solidFill>
                <a:latin typeface="Segoe UI"/>
              </a:rPr>
              <a:t>04</a:t>
            </a:r>
          </a:p>
        </p:txBody>
      </p:sp>
      <p:sp>
        <p:nvSpPr>
          <p:cNvPr id="8" name="Rounded Rectangle 7"/>
          <p:cNvSpPr/>
          <p:nvPr/>
        </p:nvSpPr>
        <p:spPr>
          <a:xfrm>
            <a:off x="640080" y="1783080"/>
            <a:ext cx="3520440" cy="3794760"/>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993392"/>
            <a:ext cx="3017520" cy="365760"/>
          </a:xfrm>
          <a:prstGeom prst="rect">
            <a:avLst/>
          </a:prstGeom>
          <a:noFill/>
        </p:spPr>
        <p:txBody>
          <a:bodyPr wrap="square" anchor="t" lIns="0" rIns="0" tIns="0" bIns="0">
            <a:spAutoFit/>
          </a:bodyPr>
          <a:lstStyle/>
          <a:p>
            <a:pPr algn="l">
              <a:lnSpc>
                <a:spcPct val="100000"/>
              </a:lnSpc>
              <a:spcAft>
                <a:spcPts val="400"/>
              </a:spcAft>
            </a:pPr>
            <a:r>
              <a:rPr sz="1300" b="1" i="0">
                <a:solidFill>
                  <a:srgbClr val="B47A00"/>
                </a:solidFill>
                <a:latin typeface="Segoe UI Semibold"/>
              </a:rPr>
              <a:t>FIX 1 — σ</a:t>
            </a:r>
          </a:p>
        </p:txBody>
      </p:sp>
      <p:sp>
        <p:nvSpPr>
          <p:cNvPr id="10" name="TextBox 9"/>
          <p:cNvSpPr txBox="1"/>
          <p:nvPr/>
        </p:nvSpPr>
        <p:spPr>
          <a:xfrm>
            <a:off x="877824" y="2395728"/>
            <a:ext cx="3063240" cy="777240"/>
          </a:xfrm>
          <a:prstGeom prst="rect">
            <a:avLst/>
          </a:prstGeom>
          <a:noFill/>
        </p:spPr>
        <p:txBody>
          <a:bodyPr wrap="square" anchor="t" lIns="0" rIns="0" tIns="0" bIns="0">
            <a:spAutoFit/>
          </a:bodyPr>
          <a:lstStyle/>
          <a:p>
            <a:pPr algn="l">
              <a:lnSpc>
                <a:spcPct val="102000"/>
              </a:lnSpc>
              <a:spcAft>
                <a:spcPts val="400"/>
              </a:spcAft>
            </a:pPr>
            <a:r>
              <a:rPr sz="1550" b="1" i="0">
                <a:solidFill>
                  <a:srgbClr val="0D366B"/>
                </a:solidFill>
                <a:latin typeface="Segoe UI Semibold"/>
              </a:rPr>
              <a:t>Buffer randomness, flag bias</a:t>
            </a:r>
          </a:p>
        </p:txBody>
      </p:sp>
      <p:sp>
        <p:nvSpPr>
          <p:cNvPr id="11" name="TextBox 10"/>
          <p:cNvSpPr txBox="1"/>
          <p:nvPr/>
        </p:nvSpPr>
        <p:spPr>
          <a:xfrm>
            <a:off x="877824" y="3246120"/>
            <a:ext cx="3063240" cy="2194560"/>
          </a:xfrm>
          <a:prstGeom prst="rect">
            <a:avLst/>
          </a:prstGeom>
          <a:noFill/>
        </p:spPr>
        <p:txBody>
          <a:bodyPr wrap="square" anchor="t" lIns="0" rIns="0" tIns="0" bIns="0">
            <a:spAutoFit/>
          </a:bodyPr>
          <a:lstStyle/>
          <a:p>
            <a:pPr algn="l">
              <a:lnSpc>
                <a:spcPct val="118000"/>
              </a:lnSpc>
              <a:spcAft>
                <a:spcPts val="400"/>
              </a:spcAft>
            </a:pPr>
            <a:r>
              <a:rPr sz="1150" b="0" i="0">
                <a:solidFill>
                  <a:srgbClr val="0B0B0B"/>
                </a:solidFill>
                <a:latin typeface="Segoe UI"/>
              </a:rPr>
              <a:t>σ = bias-removed std-dev of forecast errors. Raw RMSE would give a 0.008 kL/month SKU a 5.4 kL buffer (56 years of cover). 211 biased rows flagged for demand-planning review instead of being warehoused.</a:t>
            </a:r>
          </a:p>
        </p:txBody>
      </p:sp>
      <p:sp>
        <p:nvSpPr>
          <p:cNvPr id="12" name="Rounded Rectangle 11"/>
          <p:cNvSpPr/>
          <p:nvPr/>
        </p:nvSpPr>
        <p:spPr>
          <a:xfrm>
            <a:off x="4416552" y="1783080"/>
            <a:ext cx="3520440" cy="3794760"/>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1993392"/>
            <a:ext cx="3017520" cy="365760"/>
          </a:xfrm>
          <a:prstGeom prst="rect">
            <a:avLst/>
          </a:prstGeom>
          <a:noFill/>
        </p:spPr>
        <p:txBody>
          <a:bodyPr wrap="square" anchor="t" lIns="0" rIns="0" tIns="0" bIns="0">
            <a:spAutoFit/>
          </a:bodyPr>
          <a:lstStyle/>
          <a:p>
            <a:pPr algn="l">
              <a:lnSpc>
                <a:spcPct val="100000"/>
              </a:lnSpc>
              <a:spcAft>
                <a:spcPts val="400"/>
              </a:spcAft>
            </a:pPr>
            <a:r>
              <a:rPr sz="1300" b="1" i="0">
                <a:solidFill>
                  <a:srgbClr val="B47A00"/>
                </a:solidFill>
                <a:latin typeface="Segoe UI Semibold"/>
              </a:rPr>
              <a:t>FIX 2 — LT</a:t>
            </a:r>
          </a:p>
        </p:txBody>
      </p:sp>
      <p:sp>
        <p:nvSpPr>
          <p:cNvPr id="14" name="TextBox 13"/>
          <p:cNvSpPr txBox="1"/>
          <p:nvPr/>
        </p:nvSpPr>
        <p:spPr>
          <a:xfrm>
            <a:off x="4654296" y="2395728"/>
            <a:ext cx="3063240" cy="777240"/>
          </a:xfrm>
          <a:prstGeom prst="rect">
            <a:avLst/>
          </a:prstGeom>
          <a:noFill/>
        </p:spPr>
        <p:txBody>
          <a:bodyPr wrap="square" anchor="t" lIns="0" rIns="0" tIns="0" bIns="0">
            <a:spAutoFit/>
          </a:bodyPr>
          <a:lstStyle/>
          <a:p>
            <a:pPr algn="l">
              <a:lnSpc>
                <a:spcPct val="102000"/>
              </a:lnSpc>
              <a:spcAft>
                <a:spcPts val="400"/>
              </a:spcAft>
            </a:pPr>
            <a:r>
              <a:rPr sz="1550" b="1" i="0">
                <a:solidFill>
                  <a:srgbClr val="0D366B"/>
                </a:solidFill>
                <a:latin typeface="Segoe UI Semibold"/>
              </a:rPr>
              <a:t>Each step buffered exactly once</a:t>
            </a:r>
          </a:p>
        </p:txBody>
      </p:sp>
      <p:sp>
        <p:nvSpPr>
          <p:cNvPr id="15" name="TextBox 14"/>
          <p:cNvSpPr txBox="1"/>
          <p:nvPr/>
        </p:nvSpPr>
        <p:spPr>
          <a:xfrm>
            <a:off x="4654296" y="3246120"/>
            <a:ext cx="3063240" cy="2194560"/>
          </a:xfrm>
          <a:prstGeom prst="rect">
            <a:avLst/>
          </a:prstGeom>
          <a:noFill/>
        </p:spPr>
        <p:txBody>
          <a:bodyPr wrap="square" anchor="t" lIns="0" rIns="0" tIns="0" bIns="0">
            <a:spAutoFit/>
          </a:bodyPr>
          <a:lstStyle/>
          <a:p>
            <a:pPr algn="l">
              <a:lnSpc>
                <a:spcPct val="118000"/>
              </a:lnSpc>
              <a:spcAft>
                <a:spcPts val="400"/>
              </a:spcAft>
            </a:pPr>
            <a:r>
              <a:rPr sz="1150" b="0" i="0">
                <a:solidFill>
                  <a:srgbClr val="0B0B0B"/>
                </a:solidFill>
                <a:latin typeface="Segoe UI"/>
              </a:rPr>
              <a:t>Hubs hold their own 98% buffers → hub = decoupling point. CFA norms cover the hub→CFA leg (1–9 days); hub norms cover production + inbound. End-to-end sizing would double-buffer upstream legs: +981 kL of trapped cash.</a:t>
            </a:r>
          </a:p>
        </p:txBody>
      </p:sp>
      <p:sp>
        <p:nvSpPr>
          <p:cNvPr id="16" name="Rounded Rectangle 15"/>
          <p:cNvSpPr/>
          <p:nvPr/>
        </p:nvSpPr>
        <p:spPr>
          <a:xfrm>
            <a:off x="8193023" y="1783080"/>
            <a:ext cx="3520440" cy="3794760"/>
          </a:xfrm>
          <a:prstGeom prst="roundRect">
            <a:avLst>
              <a:gd name="adj" fmla="val 7000"/>
            </a:avLst>
          </a:prstGeom>
          <a:solidFill>
            <a:srgbClr val="E2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7" y="1993392"/>
            <a:ext cx="3017520" cy="365760"/>
          </a:xfrm>
          <a:prstGeom prst="rect">
            <a:avLst/>
          </a:prstGeom>
          <a:noFill/>
        </p:spPr>
        <p:txBody>
          <a:bodyPr wrap="square" anchor="t" lIns="0" rIns="0" tIns="0" bIns="0">
            <a:spAutoFit/>
          </a:bodyPr>
          <a:lstStyle/>
          <a:p>
            <a:pPr algn="l">
              <a:lnSpc>
                <a:spcPct val="100000"/>
              </a:lnSpc>
              <a:spcAft>
                <a:spcPts val="400"/>
              </a:spcAft>
            </a:pPr>
            <a:r>
              <a:rPr sz="1300" b="1" i="0">
                <a:solidFill>
                  <a:srgbClr val="B47A00"/>
                </a:solidFill>
                <a:latin typeface="Segoe UI Semibold"/>
              </a:rPr>
              <a:t>FIX 3 — z</a:t>
            </a:r>
          </a:p>
        </p:txBody>
      </p:sp>
      <p:sp>
        <p:nvSpPr>
          <p:cNvPr id="18" name="TextBox 17"/>
          <p:cNvSpPr txBox="1"/>
          <p:nvPr/>
        </p:nvSpPr>
        <p:spPr>
          <a:xfrm>
            <a:off x="8430767" y="2395728"/>
            <a:ext cx="3063240" cy="777240"/>
          </a:xfrm>
          <a:prstGeom prst="rect">
            <a:avLst/>
          </a:prstGeom>
          <a:noFill/>
        </p:spPr>
        <p:txBody>
          <a:bodyPr wrap="square" anchor="t" lIns="0" rIns="0" tIns="0" bIns="0">
            <a:spAutoFit/>
          </a:bodyPr>
          <a:lstStyle/>
          <a:p>
            <a:pPr algn="l">
              <a:lnSpc>
                <a:spcPct val="102000"/>
              </a:lnSpc>
              <a:spcAft>
                <a:spcPts val="400"/>
              </a:spcAft>
            </a:pPr>
            <a:r>
              <a:rPr sz="1550" b="1" i="0">
                <a:solidFill>
                  <a:srgbClr val="0D366B"/>
                </a:solidFill>
                <a:latin typeface="Segoe UI Semibold"/>
              </a:rPr>
              <a:t>Tiered fill-rate translation</a:t>
            </a:r>
          </a:p>
        </p:txBody>
      </p:sp>
      <p:sp>
        <p:nvSpPr>
          <p:cNvPr id="19" name="TextBox 18"/>
          <p:cNvSpPr txBox="1"/>
          <p:nvPr/>
        </p:nvSpPr>
        <p:spPr>
          <a:xfrm>
            <a:off x="8430767" y="3246120"/>
            <a:ext cx="3063240" cy="2194560"/>
          </a:xfrm>
          <a:prstGeom prst="rect">
            <a:avLst/>
          </a:prstGeom>
          <a:noFill/>
        </p:spPr>
        <p:txBody>
          <a:bodyPr wrap="square" anchor="t" lIns="0" rIns="0" tIns="0" bIns="0">
            <a:spAutoFit/>
          </a:bodyPr>
          <a:lstStyle/>
          <a:p>
            <a:pPr algn="l">
              <a:lnSpc>
                <a:spcPct val="118000"/>
              </a:lnSpc>
              <a:spcAft>
                <a:spcPts val="400"/>
              </a:spcAft>
            </a:pPr>
            <a:r>
              <a:rPr sz="1150" b="0" i="0">
                <a:solidFill>
                  <a:srgbClr val="0B0B0B"/>
                </a:solidFill>
                <a:latin typeface="Segoe UI"/>
              </a:rPr>
              <a:t>A/B (80% of volume): conservative cycle-service z = 2.054 / 1.881. C/D: exact fill-rate via loss function G(z) = (1−β)·Q/σ — monthly cycle stock already meets most of a 92% target, so C/D buffers shrink to ~32 kL.</a:t>
            </a:r>
          </a:p>
        </p:txBody>
      </p:sp>
      <p:sp>
        <p:nvSpPr>
          <p:cNvPr id="20" name="TextBox 19"/>
          <p:cNvSpPr txBox="1"/>
          <p:nvPr/>
        </p:nvSpPr>
        <p:spPr>
          <a:xfrm>
            <a:off x="640080" y="5806440"/>
            <a:ext cx="10972800" cy="548640"/>
          </a:xfrm>
          <a:prstGeom prst="rect">
            <a:avLst/>
          </a:prstGeom>
          <a:noFill/>
        </p:spPr>
        <p:txBody>
          <a:bodyPr wrap="square" anchor="t" lIns="0" rIns="0" tIns="0" bIns="0">
            <a:spAutoFit/>
          </a:bodyPr>
          <a:lstStyle/>
          <a:p>
            <a:pPr algn="l">
              <a:lnSpc>
                <a:spcPct val="100000"/>
              </a:lnSpc>
              <a:spcAft>
                <a:spcPts val="400"/>
              </a:spcAft>
            </a:pPr>
            <a:r>
              <a:rPr sz="1200" b="0" i="0">
                <a:solidFill>
                  <a:srgbClr val="52514E"/>
                </a:solidFill>
                <a:latin typeface="Segoe UI"/>
              </a:rPr>
              <a:t>The formula every norm uses:   </a:t>
            </a:r>
            <a:r>
              <a:rPr sz="1300" b="1" i="0">
                <a:solidFill>
                  <a:srgbClr val="0D366B"/>
                </a:solidFill>
                <a:latin typeface="Consolas"/>
              </a:rPr>
              <a:t>SS = z·√(LT·σd² + μd²·σLT²)     ROP = μd·LT + SS     DOC = ROP ÷ μd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02920" y="384048"/>
            <a:ext cx="128016"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C5CAB"/>
                </a:solidFill>
                <a:latin typeface="Segoe UI Semibold"/>
              </a:rPr>
              <a:t>COMPONENT 1 · METHODOLOGY</a:t>
            </a:r>
          </a:p>
        </p:txBody>
      </p:sp>
      <p:sp>
        <p:nvSpPr>
          <p:cNvPr id="4" name="TextBox 3"/>
          <p:cNvSpPr txBox="1"/>
          <p:nvPr/>
        </p:nvSpPr>
        <p:spPr>
          <a:xfrm>
            <a:off x="777240" y="603504"/>
            <a:ext cx="10881360" cy="566928"/>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One system: inputs → norms → optimisation → decisions</a:t>
            </a:r>
          </a:p>
        </p:txBody>
      </p:sp>
      <p:sp>
        <p:nvSpPr>
          <p:cNvPr id="5" name="Rectangle 4"/>
          <p:cNvSpPr/>
          <p:nvPr/>
        </p:nvSpPr>
        <p:spPr>
          <a:xfrm>
            <a:off x="0" y="6656832"/>
            <a:ext cx="12191695" cy="201168"/>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675120"/>
            <a:ext cx="8229600" cy="182880"/>
          </a:xfrm>
          <a:prstGeom prst="rect">
            <a:avLst/>
          </a:prstGeom>
          <a:noFill/>
        </p:spPr>
        <p:txBody>
          <a:bodyPr wrap="square" anchor="t" lIns="0" rIns="0" tIns="0" bIns="0">
            <a:spAutoFit/>
          </a:bodyPr>
          <a:lstStyle/>
          <a:p>
            <a:pPr algn="l">
              <a:lnSpc>
                <a:spcPct val="100000"/>
              </a:lnSpc>
              <a:spcAft>
                <a:spcPts val="400"/>
              </a:spcAft>
            </a:pPr>
            <a:r>
              <a:rPr sz="800" b="0" i="0">
                <a:solidFill>
                  <a:srgbClr val="CADCFC"/>
                </a:solidFill>
                <a:latin typeface="Segoe UI"/>
              </a:rPr>
              <a:t>Levisol India · Production, Distribution &amp; Inventory Optimisation</a:t>
            </a:r>
          </a:p>
        </p:txBody>
      </p:sp>
      <p:sp>
        <p:nvSpPr>
          <p:cNvPr id="7" name="TextBox 6"/>
          <p:cNvSpPr txBox="1"/>
          <p:nvPr/>
        </p:nvSpPr>
        <p:spPr>
          <a:xfrm>
            <a:off x="11247120" y="6675120"/>
            <a:ext cx="640080" cy="182880"/>
          </a:xfrm>
          <a:prstGeom prst="rect">
            <a:avLst/>
          </a:prstGeom>
          <a:noFill/>
        </p:spPr>
        <p:txBody>
          <a:bodyPr wrap="square" anchor="t" lIns="0" rIns="0" tIns="0" bIns="0">
            <a:spAutoFit/>
          </a:bodyPr>
          <a:lstStyle/>
          <a:p>
            <a:pPr algn="r">
              <a:lnSpc>
                <a:spcPct val="100000"/>
              </a:lnSpc>
              <a:spcAft>
                <a:spcPts val="400"/>
              </a:spcAft>
            </a:pPr>
            <a:r>
              <a:rPr sz="800" b="0" i="0">
                <a:solidFill>
                  <a:srgbClr val="CADCFC"/>
                </a:solidFill>
                <a:latin typeface="Segoe UI"/>
              </a:rPr>
              <a:t>05</a:t>
            </a:r>
          </a:p>
        </p:txBody>
      </p:sp>
      <p:pic>
        <p:nvPicPr>
          <p:cNvPr id="8" name="Picture 7" descr="10_methodology_flow.png"/>
          <p:cNvPicPr>
            <a:picLocks noChangeAspect="1"/>
          </p:cNvPicPr>
          <p:nvPr/>
        </p:nvPicPr>
        <p:blipFill>
          <a:blip r:embed="rId3"/>
          <a:stretch>
            <a:fillRect/>
          </a:stretch>
        </p:blipFill>
        <p:spPr>
          <a:xfrm>
            <a:off x="1168949" y="1600200"/>
            <a:ext cx="9823621" cy="48463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02920" y="384048"/>
            <a:ext cx="128016"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C5CAB"/>
                </a:solidFill>
                <a:latin typeface="Segoe UI Semibold"/>
              </a:rPr>
              <a:t>COMPONENT 1 · TIERING</a:t>
            </a:r>
          </a:p>
        </p:txBody>
      </p:sp>
      <p:sp>
        <p:nvSpPr>
          <p:cNvPr id="4" name="TextBox 3"/>
          <p:cNvSpPr txBox="1"/>
          <p:nvPr/>
        </p:nvSpPr>
        <p:spPr>
          <a:xfrm>
            <a:off x="777240" y="603504"/>
            <a:ext cx="10881360" cy="566928"/>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Exhibit F volume slabs put 100 SKUs into four service tiers</a:t>
            </a:r>
          </a:p>
        </p:txBody>
      </p:sp>
      <p:sp>
        <p:nvSpPr>
          <p:cNvPr id="5" name="Rectangle 4"/>
          <p:cNvSpPr/>
          <p:nvPr/>
        </p:nvSpPr>
        <p:spPr>
          <a:xfrm>
            <a:off x="0" y="6656832"/>
            <a:ext cx="12191695" cy="201168"/>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675120"/>
            <a:ext cx="8229600" cy="182880"/>
          </a:xfrm>
          <a:prstGeom prst="rect">
            <a:avLst/>
          </a:prstGeom>
          <a:noFill/>
        </p:spPr>
        <p:txBody>
          <a:bodyPr wrap="square" anchor="t" lIns="0" rIns="0" tIns="0" bIns="0">
            <a:spAutoFit/>
          </a:bodyPr>
          <a:lstStyle/>
          <a:p>
            <a:pPr algn="l">
              <a:lnSpc>
                <a:spcPct val="100000"/>
              </a:lnSpc>
              <a:spcAft>
                <a:spcPts val="400"/>
              </a:spcAft>
            </a:pPr>
            <a:r>
              <a:rPr sz="800" b="0" i="0">
                <a:solidFill>
                  <a:srgbClr val="CADCFC"/>
                </a:solidFill>
                <a:latin typeface="Segoe UI"/>
              </a:rPr>
              <a:t>Levisol India · Production, Distribution &amp; Inventory Optimisation</a:t>
            </a:r>
          </a:p>
        </p:txBody>
      </p:sp>
      <p:sp>
        <p:nvSpPr>
          <p:cNvPr id="7" name="TextBox 6"/>
          <p:cNvSpPr txBox="1"/>
          <p:nvPr/>
        </p:nvSpPr>
        <p:spPr>
          <a:xfrm>
            <a:off x="11247120" y="6675120"/>
            <a:ext cx="640080" cy="182880"/>
          </a:xfrm>
          <a:prstGeom prst="rect">
            <a:avLst/>
          </a:prstGeom>
          <a:noFill/>
        </p:spPr>
        <p:txBody>
          <a:bodyPr wrap="square" anchor="t" lIns="0" rIns="0" tIns="0" bIns="0">
            <a:spAutoFit/>
          </a:bodyPr>
          <a:lstStyle/>
          <a:p>
            <a:pPr algn="r">
              <a:lnSpc>
                <a:spcPct val="100000"/>
              </a:lnSpc>
              <a:spcAft>
                <a:spcPts val="400"/>
              </a:spcAft>
            </a:pPr>
            <a:r>
              <a:rPr sz="800" b="0" i="0">
                <a:solidFill>
                  <a:srgbClr val="CADCFC"/>
                </a:solidFill>
                <a:latin typeface="Segoe UI"/>
              </a:rPr>
              <a:t>06</a:t>
            </a:r>
          </a:p>
        </p:txBody>
      </p:sp>
      <p:pic>
        <p:nvPicPr>
          <p:cNvPr id="8" name="Picture 7" descr="06_tier_pareto.png"/>
          <p:cNvPicPr>
            <a:picLocks noChangeAspect="1"/>
          </p:cNvPicPr>
          <p:nvPr/>
        </p:nvPicPr>
        <p:blipFill>
          <a:blip r:embed="rId3"/>
          <a:stretch>
            <a:fillRect/>
          </a:stretch>
        </p:blipFill>
        <p:spPr>
          <a:xfrm>
            <a:off x="502920" y="1721556"/>
            <a:ext cx="7498079" cy="4054967"/>
          </a:xfrm>
          <a:prstGeom prst="rect">
            <a:avLst/>
          </a:prstGeom>
        </p:spPr>
      </p:pic>
      <p:graphicFrame>
        <p:nvGraphicFramePr>
          <p:cNvPr id="9" name="Table 8"/>
          <p:cNvGraphicFramePr>
            <a:graphicFrameLocks noGrp="1"/>
          </p:cNvGraphicFramePr>
          <p:nvPr/>
        </p:nvGraphicFramePr>
        <p:xfrm>
          <a:off x="8275320" y="1783080"/>
          <a:ext cx="3383280" cy="1920240"/>
        </p:xfrm>
        <a:graphic>
          <a:graphicData uri="http://schemas.openxmlformats.org/drawingml/2006/table">
            <a:tbl>
              <a:tblPr firstRow="0" bandRow="0">
                <a:tableStyleId>{5C22544A-7EE6-4342-B048-85BDC9FD1C3A}</a:tableStyleId>
              </a:tblPr>
              <a:tblGrid>
                <a:gridCol w="731520"/>
                <a:gridCol w="822960"/>
                <a:gridCol w="1005840"/>
                <a:gridCol w="822960"/>
              </a:tblGrid>
              <a:tr h="384048">
                <a:tc>
                  <a:txBody>
                    <a:bodyPr wrap="square"/>
                    <a:lstStyle/>
                    <a:p>
                      <a:pPr algn="l"/>
                      <a:r>
                        <a:rPr sz="1200" b="1">
                          <a:solidFill>
                            <a:srgbClr val="FFFFFF"/>
                          </a:solidFill>
                          <a:latin typeface="Segoe UI Semibold"/>
                        </a:rPr>
                        <a:t>Tier</a:t>
                      </a:r>
                    </a:p>
                  </a:txBody>
                  <a:tcPr marT="25400" marB="25400">
                    <a:solidFill>
                      <a:srgbClr val="0D366B"/>
                    </a:solidFill>
                  </a:tcPr>
                </a:tc>
                <a:tc>
                  <a:txBody>
                    <a:bodyPr wrap="square"/>
                    <a:lstStyle/>
                    <a:p>
                      <a:pPr algn="r"/>
                      <a:r>
                        <a:rPr sz="1200" b="1">
                          <a:solidFill>
                            <a:srgbClr val="FFFFFF"/>
                          </a:solidFill>
                          <a:latin typeface="Segoe UI Semibold"/>
                        </a:rPr>
                        <a:t>SKUs</a:t>
                      </a:r>
                    </a:p>
                  </a:txBody>
                  <a:tcPr marT="25400" marB="25400">
                    <a:solidFill>
                      <a:srgbClr val="0D366B"/>
                    </a:solidFill>
                  </a:tcPr>
                </a:tc>
                <a:tc>
                  <a:txBody>
                    <a:bodyPr wrap="square"/>
                    <a:lstStyle/>
                    <a:p>
                      <a:pPr algn="r"/>
                      <a:r>
                        <a:rPr sz="1200" b="1">
                          <a:solidFill>
                            <a:srgbClr val="FFFFFF"/>
                          </a:solidFill>
                          <a:latin typeface="Segoe UI Semibold"/>
                        </a:rPr>
                        <a:t>Volume</a:t>
                      </a:r>
                    </a:p>
                  </a:txBody>
                  <a:tcPr marT="25400" marB="25400">
                    <a:solidFill>
                      <a:srgbClr val="0D366B"/>
                    </a:solidFill>
                  </a:tcPr>
                </a:tc>
                <a:tc>
                  <a:txBody>
                    <a:bodyPr wrap="square"/>
                    <a:lstStyle/>
                    <a:p>
                      <a:pPr algn="r"/>
                      <a:r>
                        <a:rPr sz="1200" b="1">
                          <a:solidFill>
                            <a:srgbClr val="FFFFFF"/>
                          </a:solidFill>
                          <a:latin typeface="Segoe UI Semibold"/>
                        </a:rPr>
                        <a:t>Target</a:t>
                      </a:r>
                    </a:p>
                  </a:txBody>
                  <a:tcPr marT="25400" marB="25400">
                    <a:solidFill>
                      <a:srgbClr val="0D366B"/>
                    </a:solidFill>
                  </a:tcPr>
                </a:tc>
              </a:tr>
              <a:tr h="384048">
                <a:tc>
                  <a:txBody>
                    <a:bodyPr wrap="square"/>
                    <a:lstStyle/>
                    <a:p>
                      <a:pPr algn="l"/>
                      <a:r>
                        <a:rPr sz="1200">
                          <a:solidFill>
                            <a:srgbClr val="0B0B0B"/>
                          </a:solidFill>
                          <a:latin typeface="Segoe UI"/>
                        </a:rPr>
                        <a:t>A</a:t>
                      </a:r>
                    </a:p>
                  </a:txBody>
                  <a:tcPr marT="25400" marB="25400">
                    <a:solidFill>
                      <a:srgbClr val="FCFCFB"/>
                    </a:solidFill>
                  </a:tcPr>
                </a:tc>
                <a:tc>
                  <a:txBody>
                    <a:bodyPr wrap="square"/>
                    <a:lstStyle/>
                    <a:p>
                      <a:pPr algn="r"/>
                      <a:r>
                        <a:rPr sz="1200">
                          <a:solidFill>
                            <a:srgbClr val="0B0B0B"/>
                          </a:solidFill>
                          <a:latin typeface="Segoe UI"/>
                        </a:rPr>
                        <a:t>15</a:t>
                      </a:r>
                    </a:p>
                  </a:txBody>
                  <a:tcPr marT="25400" marB="25400">
                    <a:solidFill>
                      <a:srgbClr val="FCFCFB"/>
                    </a:solidFill>
                  </a:tcPr>
                </a:tc>
                <a:tc>
                  <a:txBody>
                    <a:bodyPr wrap="square"/>
                    <a:lstStyle/>
                    <a:p>
                      <a:pPr algn="r"/>
                      <a:r>
                        <a:rPr sz="1200">
                          <a:solidFill>
                            <a:srgbClr val="0B0B0B"/>
                          </a:solidFill>
                          <a:latin typeface="Segoe UI"/>
                        </a:rPr>
                        <a:t>50.0%</a:t>
                      </a:r>
                    </a:p>
                  </a:txBody>
                  <a:tcPr marT="25400" marB="25400">
                    <a:solidFill>
                      <a:srgbClr val="FCFCFB"/>
                    </a:solidFill>
                  </a:tcPr>
                </a:tc>
                <a:tc>
                  <a:txBody>
                    <a:bodyPr wrap="square"/>
                    <a:lstStyle/>
                    <a:p>
                      <a:pPr algn="r"/>
                      <a:r>
                        <a:rPr sz="1200">
                          <a:solidFill>
                            <a:srgbClr val="0B0B0B"/>
                          </a:solidFill>
                          <a:latin typeface="Segoe UI"/>
                        </a:rPr>
                        <a:t>98%</a:t>
                      </a:r>
                    </a:p>
                  </a:txBody>
                  <a:tcPr marT="25400" marB="25400">
                    <a:solidFill>
                      <a:srgbClr val="FCFCFB"/>
                    </a:solidFill>
                  </a:tcPr>
                </a:tc>
              </a:tr>
              <a:tr h="384048">
                <a:tc>
                  <a:txBody>
                    <a:bodyPr wrap="square"/>
                    <a:lstStyle/>
                    <a:p>
                      <a:pPr algn="l"/>
                      <a:r>
                        <a:rPr sz="1200">
                          <a:solidFill>
                            <a:srgbClr val="0B0B0B"/>
                          </a:solidFill>
                          <a:latin typeface="Segoe UI"/>
                        </a:rPr>
                        <a:t>B</a:t>
                      </a:r>
                    </a:p>
                  </a:txBody>
                  <a:tcPr marT="25400" marB="25400">
                    <a:solidFill>
                      <a:srgbClr val="F0F4FA"/>
                    </a:solidFill>
                  </a:tcPr>
                </a:tc>
                <a:tc>
                  <a:txBody>
                    <a:bodyPr wrap="square"/>
                    <a:lstStyle/>
                    <a:p>
                      <a:pPr algn="r"/>
                      <a:r>
                        <a:rPr sz="1200">
                          <a:solidFill>
                            <a:srgbClr val="0B0B0B"/>
                          </a:solidFill>
                          <a:latin typeface="Segoe UI"/>
                        </a:rPr>
                        <a:t>34</a:t>
                      </a:r>
                    </a:p>
                  </a:txBody>
                  <a:tcPr marT="25400" marB="25400">
                    <a:solidFill>
                      <a:srgbClr val="F0F4FA"/>
                    </a:solidFill>
                  </a:tcPr>
                </a:tc>
                <a:tc>
                  <a:txBody>
                    <a:bodyPr wrap="square"/>
                    <a:lstStyle/>
                    <a:p>
                      <a:pPr algn="r"/>
                      <a:r>
                        <a:rPr sz="1200">
                          <a:solidFill>
                            <a:srgbClr val="0B0B0B"/>
                          </a:solidFill>
                          <a:latin typeface="Segoe UI"/>
                        </a:rPr>
                        <a:t>30.0%</a:t>
                      </a:r>
                    </a:p>
                  </a:txBody>
                  <a:tcPr marT="25400" marB="25400">
                    <a:solidFill>
                      <a:srgbClr val="F0F4FA"/>
                    </a:solidFill>
                  </a:tcPr>
                </a:tc>
                <a:tc>
                  <a:txBody>
                    <a:bodyPr wrap="square"/>
                    <a:lstStyle/>
                    <a:p>
                      <a:pPr algn="r"/>
                      <a:r>
                        <a:rPr sz="1200">
                          <a:solidFill>
                            <a:srgbClr val="0B0B0B"/>
                          </a:solidFill>
                          <a:latin typeface="Segoe UI"/>
                        </a:rPr>
                        <a:t>97%</a:t>
                      </a:r>
                    </a:p>
                  </a:txBody>
                  <a:tcPr marT="25400" marB="25400">
                    <a:solidFill>
                      <a:srgbClr val="F0F4FA"/>
                    </a:solidFill>
                  </a:tcPr>
                </a:tc>
              </a:tr>
              <a:tr h="384048">
                <a:tc>
                  <a:txBody>
                    <a:bodyPr wrap="square"/>
                    <a:lstStyle/>
                    <a:p>
                      <a:pPr algn="l"/>
                      <a:r>
                        <a:rPr sz="1200">
                          <a:solidFill>
                            <a:srgbClr val="0B0B0B"/>
                          </a:solidFill>
                          <a:latin typeface="Segoe UI"/>
                        </a:rPr>
                        <a:t>C</a:t>
                      </a:r>
                    </a:p>
                  </a:txBody>
                  <a:tcPr marT="25400" marB="25400">
                    <a:solidFill>
                      <a:srgbClr val="FCFCFB"/>
                    </a:solidFill>
                  </a:tcPr>
                </a:tc>
                <a:tc>
                  <a:txBody>
                    <a:bodyPr wrap="square"/>
                    <a:lstStyle/>
                    <a:p>
                      <a:pPr algn="r"/>
                      <a:r>
                        <a:rPr sz="1200">
                          <a:solidFill>
                            <a:srgbClr val="0B0B0B"/>
                          </a:solidFill>
                          <a:latin typeface="Segoe UI"/>
                        </a:rPr>
                        <a:t>33</a:t>
                      </a:r>
                    </a:p>
                  </a:txBody>
                  <a:tcPr marT="25400" marB="25400">
                    <a:solidFill>
                      <a:srgbClr val="FCFCFB"/>
                    </a:solidFill>
                  </a:tcPr>
                </a:tc>
                <a:tc>
                  <a:txBody>
                    <a:bodyPr wrap="square"/>
                    <a:lstStyle/>
                    <a:p>
                      <a:pPr algn="r"/>
                      <a:r>
                        <a:rPr sz="1200">
                          <a:solidFill>
                            <a:srgbClr val="0B0B0B"/>
                          </a:solidFill>
                          <a:latin typeface="Segoe UI"/>
                        </a:rPr>
                        <a:t>15.0%</a:t>
                      </a:r>
                    </a:p>
                  </a:txBody>
                  <a:tcPr marT="25400" marB="25400">
                    <a:solidFill>
                      <a:srgbClr val="FCFCFB"/>
                    </a:solidFill>
                  </a:tcPr>
                </a:tc>
                <a:tc>
                  <a:txBody>
                    <a:bodyPr wrap="square"/>
                    <a:lstStyle/>
                    <a:p>
                      <a:pPr algn="r"/>
                      <a:r>
                        <a:rPr sz="1200">
                          <a:solidFill>
                            <a:srgbClr val="0B0B0B"/>
                          </a:solidFill>
                          <a:latin typeface="Segoe UI"/>
                        </a:rPr>
                        <a:t>92%</a:t>
                      </a:r>
                    </a:p>
                  </a:txBody>
                  <a:tcPr marT="25400" marB="25400">
                    <a:solidFill>
                      <a:srgbClr val="FCFCFB"/>
                    </a:solidFill>
                  </a:tcPr>
                </a:tc>
              </a:tr>
              <a:tr h="384048">
                <a:tc>
                  <a:txBody>
                    <a:bodyPr wrap="square"/>
                    <a:lstStyle/>
                    <a:p>
                      <a:pPr algn="l"/>
                      <a:r>
                        <a:rPr sz="1200">
                          <a:solidFill>
                            <a:srgbClr val="0B0B0B"/>
                          </a:solidFill>
                          <a:latin typeface="Segoe UI"/>
                        </a:rPr>
                        <a:t>D</a:t>
                      </a:r>
                    </a:p>
                  </a:txBody>
                  <a:tcPr marT="25400" marB="25400">
                    <a:solidFill>
                      <a:srgbClr val="F0F4FA"/>
                    </a:solidFill>
                  </a:tcPr>
                </a:tc>
                <a:tc>
                  <a:txBody>
                    <a:bodyPr wrap="square"/>
                    <a:lstStyle/>
                    <a:p>
                      <a:pPr algn="r"/>
                      <a:r>
                        <a:rPr sz="1200">
                          <a:solidFill>
                            <a:srgbClr val="0B0B0B"/>
                          </a:solidFill>
                          <a:latin typeface="Segoe UI"/>
                        </a:rPr>
                        <a:t>18</a:t>
                      </a:r>
                    </a:p>
                  </a:txBody>
                  <a:tcPr marT="25400" marB="25400">
                    <a:solidFill>
                      <a:srgbClr val="F0F4FA"/>
                    </a:solidFill>
                  </a:tcPr>
                </a:tc>
                <a:tc>
                  <a:txBody>
                    <a:bodyPr wrap="square"/>
                    <a:lstStyle/>
                    <a:p>
                      <a:pPr algn="r"/>
                      <a:r>
                        <a:rPr sz="1200">
                          <a:solidFill>
                            <a:srgbClr val="0B0B0B"/>
                          </a:solidFill>
                          <a:latin typeface="Segoe UI"/>
                        </a:rPr>
                        <a:t>5.0%</a:t>
                      </a:r>
                    </a:p>
                  </a:txBody>
                  <a:tcPr marT="25400" marB="25400">
                    <a:solidFill>
                      <a:srgbClr val="F0F4FA"/>
                    </a:solidFill>
                  </a:tcPr>
                </a:tc>
                <a:tc>
                  <a:txBody>
                    <a:bodyPr wrap="square"/>
                    <a:lstStyle/>
                    <a:p>
                      <a:pPr algn="r"/>
                      <a:r>
                        <a:rPr sz="1200">
                          <a:solidFill>
                            <a:srgbClr val="0B0B0B"/>
                          </a:solidFill>
                          <a:latin typeface="Segoe UI"/>
                        </a:rPr>
                        <a:t>92%</a:t>
                      </a:r>
                    </a:p>
                  </a:txBody>
                  <a:tcPr marT="25400" marB="25400">
                    <a:solidFill>
                      <a:srgbClr val="F0F4FA"/>
                    </a:solidFill>
                  </a:tcPr>
                </a:tc>
              </a:tr>
            </a:tbl>
          </a:graphicData>
        </a:graphic>
      </p:graphicFrame>
      <p:sp>
        <p:nvSpPr>
          <p:cNvPr id="10" name="Rounded Rectangle 9"/>
          <p:cNvSpPr/>
          <p:nvPr/>
        </p:nvSpPr>
        <p:spPr>
          <a:xfrm>
            <a:off x="8275320" y="4114800"/>
            <a:ext cx="3383280" cy="1600200"/>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0" y="4279392"/>
            <a:ext cx="2971800" cy="1325880"/>
          </a:xfrm>
          <a:prstGeom prst="rect">
            <a:avLst/>
          </a:prstGeom>
          <a:noFill/>
        </p:spPr>
        <p:txBody>
          <a:bodyPr wrap="square" anchor="t" lIns="0" rIns="0" tIns="0" bIns="0">
            <a:spAutoFit/>
          </a:bodyPr>
          <a:lstStyle/>
          <a:p>
            <a:pPr algn="l">
              <a:lnSpc>
                <a:spcPct val="120000"/>
              </a:lnSpc>
              <a:spcAft>
                <a:spcPts val="400"/>
              </a:spcAft>
            </a:pPr>
            <a:r>
              <a:rPr sz="1150" b="0" i="0">
                <a:solidFill>
                  <a:srgbClr val="0B0B0B"/>
                </a:solidFill>
                <a:latin typeface="Segoe UI"/>
              </a:rPr>
              <a:t>A + B = 49 SKUs carry 80% of volume → protected conservatively.
C + D = 51 SKUs, 20% of volume → sized to their exact fill-rate.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02920" y="384048"/>
            <a:ext cx="128016"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C5CAB"/>
                </a:solidFill>
                <a:latin typeface="Segoe UI Semibold"/>
              </a:rPr>
              <a:t>COMPONENT 1 · RESULTS</a:t>
            </a:r>
          </a:p>
        </p:txBody>
      </p:sp>
      <p:sp>
        <p:nvSpPr>
          <p:cNvPr id="4" name="TextBox 3"/>
          <p:cNvSpPr txBox="1"/>
          <p:nvPr/>
        </p:nvSpPr>
        <p:spPr>
          <a:xfrm>
            <a:off x="777240" y="603504"/>
            <a:ext cx="10881360" cy="566928"/>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Each methodology fix, quantified: −1,839 kL of safety stock (−56%)</a:t>
            </a:r>
          </a:p>
        </p:txBody>
      </p:sp>
      <p:sp>
        <p:nvSpPr>
          <p:cNvPr id="5" name="Rectangle 4"/>
          <p:cNvSpPr/>
          <p:nvPr/>
        </p:nvSpPr>
        <p:spPr>
          <a:xfrm>
            <a:off x="0" y="6656832"/>
            <a:ext cx="12191695" cy="201168"/>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675120"/>
            <a:ext cx="8229600" cy="182880"/>
          </a:xfrm>
          <a:prstGeom prst="rect">
            <a:avLst/>
          </a:prstGeom>
          <a:noFill/>
        </p:spPr>
        <p:txBody>
          <a:bodyPr wrap="square" anchor="t" lIns="0" rIns="0" tIns="0" bIns="0">
            <a:spAutoFit/>
          </a:bodyPr>
          <a:lstStyle/>
          <a:p>
            <a:pPr algn="l">
              <a:lnSpc>
                <a:spcPct val="100000"/>
              </a:lnSpc>
              <a:spcAft>
                <a:spcPts val="400"/>
              </a:spcAft>
            </a:pPr>
            <a:r>
              <a:rPr sz="800" b="0" i="0">
                <a:solidFill>
                  <a:srgbClr val="CADCFC"/>
                </a:solidFill>
                <a:latin typeface="Segoe UI"/>
              </a:rPr>
              <a:t>Levisol India · Production, Distribution &amp; Inventory Optimisation</a:t>
            </a:r>
          </a:p>
        </p:txBody>
      </p:sp>
      <p:sp>
        <p:nvSpPr>
          <p:cNvPr id="7" name="TextBox 6"/>
          <p:cNvSpPr txBox="1"/>
          <p:nvPr/>
        </p:nvSpPr>
        <p:spPr>
          <a:xfrm>
            <a:off x="11247120" y="6675120"/>
            <a:ext cx="640080" cy="182880"/>
          </a:xfrm>
          <a:prstGeom prst="rect">
            <a:avLst/>
          </a:prstGeom>
          <a:noFill/>
        </p:spPr>
        <p:txBody>
          <a:bodyPr wrap="square" anchor="t" lIns="0" rIns="0" tIns="0" bIns="0">
            <a:spAutoFit/>
          </a:bodyPr>
          <a:lstStyle/>
          <a:p>
            <a:pPr algn="r">
              <a:lnSpc>
                <a:spcPct val="100000"/>
              </a:lnSpc>
              <a:spcAft>
                <a:spcPts val="400"/>
              </a:spcAft>
            </a:pPr>
            <a:r>
              <a:rPr sz="800" b="0" i="0">
                <a:solidFill>
                  <a:srgbClr val="CADCFC"/>
                </a:solidFill>
                <a:latin typeface="Segoe UI"/>
              </a:rPr>
              <a:t>07</a:t>
            </a:r>
          </a:p>
        </p:txBody>
      </p:sp>
      <p:pic>
        <p:nvPicPr>
          <p:cNvPr id="8" name="Picture 7" descr="04_ss_variants.png"/>
          <p:cNvPicPr>
            <a:picLocks noChangeAspect="1"/>
          </p:cNvPicPr>
          <p:nvPr/>
        </p:nvPicPr>
        <p:blipFill>
          <a:blip r:embed="rId3"/>
          <a:stretch>
            <a:fillRect/>
          </a:stretch>
        </p:blipFill>
        <p:spPr>
          <a:xfrm>
            <a:off x="1659316" y="1645920"/>
            <a:ext cx="8934327" cy="48006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02920" y="384048"/>
            <a:ext cx="128016"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C5CAB"/>
                </a:solidFill>
                <a:latin typeface="Segoe UI Semibold"/>
              </a:rPr>
              <a:t>COMPONENT 1 · RESULTS</a:t>
            </a:r>
          </a:p>
        </p:txBody>
      </p:sp>
      <p:sp>
        <p:nvSpPr>
          <p:cNvPr id="4" name="TextBox 3"/>
          <p:cNvSpPr txBox="1"/>
          <p:nvPr/>
        </p:nvSpPr>
        <p:spPr>
          <a:xfrm>
            <a:off x="777240" y="603504"/>
            <a:ext cx="10881360" cy="566928"/>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Where the buffers sit: tiers A/B keep 98% of the safety stock</a:t>
            </a:r>
          </a:p>
        </p:txBody>
      </p:sp>
      <p:sp>
        <p:nvSpPr>
          <p:cNvPr id="5" name="Rectangle 4"/>
          <p:cNvSpPr/>
          <p:nvPr/>
        </p:nvSpPr>
        <p:spPr>
          <a:xfrm>
            <a:off x="0" y="6656832"/>
            <a:ext cx="12191695" cy="201168"/>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675120"/>
            <a:ext cx="8229600" cy="182880"/>
          </a:xfrm>
          <a:prstGeom prst="rect">
            <a:avLst/>
          </a:prstGeom>
          <a:noFill/>
        </p:spPr>
        <p:txBody>
          <a:bodyPr wrap="square" anchor="t" lIns="0" rIns="0" tIns="0" bIns="0">
            <a:spAutoFit/>
          </a:bodyPr>
          <a:lstStyle/>
          <a:p>
            <a:pPr algn="l">
              <a:lnSpc>
                <a:spcPct val="100000"/>
              </a:lnSpc>
              <a:spcAft>
                <a:spcPts val="400"/>
              </a:spcAft>
            </a:pPr>
            <a:r>
              <a:rPr sz="800" b="0" i="0">
                <a:solidFill>
                  <a:srgbClr val="CADCFC"/>
                </a:solidFill>
                <a:latin typeface="Segoe UI"/>
              </a:rPr>
              <a:t>Levisol India · Production, Distribution &amp; Inventory Optimisation</a:t>
            </a:r>
          </a:p>
        </p:txBody>
      </p:sp>
      <p:sp>
        <p:nvSpPr>
          <p:cNvPr id="7" name="TextBox 6"/>
          <p:cNvSpPr txBox="1"/>
          <p:nvPr/>
        </p:nvSpPr>
        <p:spPr>
          <a:xfrm>
            <a:off x="11247120" y="6675120"/>
            <a:ext cx="640080" cy="182880"/>
          </a:xfrm>
          <a:prstGeom prst="rect">
            <a:avLst/>
          </a:prstGeom>
          <a:noFill/>
        </p:spPr>
        <p:txBody>
          <a:bodyPr wrap="square" anchor="t" lIns="0" rIns="0" tIns="0" bIns="0">
            <a:spAutoFit/>
          </a:bodyPr>
          <a:lstStyle/>
          <a:p>
            <a:pPr algn="r">
              <a:lnSpc>
                <a:spcPct val="100000"/>
              </a:lnSpc>
              <a:spcAft>
                <a:spcPts val="400"/>
              </a:spcAft>
            </a:pPr>
            <a:r>
              <a:rPr sz="800" b="0" i="0">
                <a:solidFill>
                  <a:srgbClr val="CADCFC"/>
                </a:solidFill>
                <a:latin typeface="Segoe UI"/>
              </a:rPr>
              <a:t>08</a:t>
            </a:r>
          </a:p>
        </p:txBody>
      </p:sp>
      <p:pic>
        <p:nvPicPr>
          <p:cNvPr id="8" name="Picture 7" descr="05_ss_by_tier.png"/>
          <p:cNvPicPr>
            <a:picLocks noChangeAspect="1"/>
          </p:cNvPicPr>
          <p:nvPr/>
        </p:nvPicPr>
        <p:blipFill>
          <a:blip r:embed="rId3"/>
          <a:stretch>
            <a:fillRect/>
          </a:stretch>
        </p:blipFill>
        <p:spPr>
          <a:xfrm>
            <a:off x="502920" y="1747383"/>
            <a:ext cx="6949440" cy="4003312"/>
          </a:xfrm>
          <a:prstGeom prst="rect">
            <a:avLst/>
          </a:prstGeom>
        </p:spPr>
      </p:pic>
      <p:graphicFrame>
        <p:nvGraphicFramePr>
          <p:cNvPr id="9" name="Table 8"/>
          <p:cNvGraphicFramePr>
            <a:graphicFrameLocks noGrp="1"/>
          </p:cNvGraphicFramePr>
          <p:nvPr/>
        </p:nvGraphicFramePr>
        <p:xfrm>
          <a:off x="7726679" y="1783080"/>
          <a:ext cx="3931919" cy="1097280"/>
        </p:xfrm>
        <a:graphic>
          <a:graphicData uri="http://schemas.openxmlformats.org/drawingml/2006/table">
            <a:tbl>
              <a:tblPr firstRow="0" bandRow="0">
                <a:tableStyleId>{5C22544A-7EE6-4342-B048-85BDC9FD1C3A}</a:tableStyleId>
              </a:tblPr>
              <a:tblGrid>
                <a:gridCol w="2144683"/>
                <a:gridCol w="893618"/>
                <a:gridCol w="893618"/>
              </a:tblGrid>
              <a:tr h="365760">
                <a:tc>
                  <a:txBody>
                    <a:bodyPr wrap="square"/>
                    <a:lstStyle/>
                    <a:p>
                      <a:pPr algn="l"/>
                      <a:r>
                        <a:rPr sz="1100" b="1">
                          <a:solidFill>
                            <a:srgbClr val="FFFFFF"/>
                          </a:solidFill>
                          <a:latin typeface="Segoe UI Semibold"/>
                        </a:rPr>
                        <a:t>Hub norms (98% SL)</a:t>
                      </a:r>
                    </a:p>
                  </a:txBody>
                  <a:tcPr marT="25400" marB="25400">
                    <a:solidFill>
                      <a:srgbClr val="0D366B"/>
                    </a:solidFill>
                  </a:tcPr>
                </a:tc>
                <a:tc>
                  <a:txBody>
                    <a:bodyPr wrap="square"/>
                    <a:lstStyle/>
                    <a:p>
                      <a:pPr algn="r"/>
                      <a:r>
                        <a:rPr sz="1100" b="1">
                          <a:solidFill>
                            <a:srgbClr val="FFFFFF"/>
                          </a:solidFill>
                          <a:latin typeface="Segoe UI Semibold"/>
                        </a:rPr>
                        <a:t>SS (kL)</a:t>
                      </a:r>
                    </a:p>
                  </a:txBody>
                  <a:tcPr marT="25400" marB="25400">
                    <a:solidFill>
                      <a:srgbClr val="0D366B"/>
                    </a:solidFill>
                  </a:tcPr>
                </a:tc>
                <a:tc>
                  <a:txBody>
                    <a:bodyPr wrap="square"/>
                    <a:lstStyle/>
                    <a:p>
                      <a:pPr algn="r"/>
                      <a:r>
                        <a:rPr sz="1100" b="1">
                          <a:solidFill>
                            <a:srgbClr val="FFFFFF"/>
                          </a:solidFill>
                          <a:latin typeface="Segoe UI Semibold"/>
                        </a:rPr>
                        <a:t>ROP (kL)</a:t>
                      </a:r>
                    </a:p>
                  </a:txBody>
                  <a:tcPr marT="25400" marB="25400">
                    <a:solidFill>
                      <a:srgbClr val="0D366B"/>
                    </a:solidFill>
                  </a:tcPr>
                </a:tc>
              </a:tr>
              <a:tr h="365760">
                <a:tc>
                  <a:txBody>
                    <a:bodyPr wrap="square"/>
                    <a:lstStyle/>
                    <a:p>
                      <a:pPr algn="l"/>
                      <a:r>
                        <a:rPr sz="1100">
                          <a:solidFill>
                            <a:srgbClr val="0B0B0B"/>
                          </a:solidFill>
                          <a:latin typeface="Segoe UI"/>
                        </a:rPr>
                        <a:t>Mother Hub West · 100 SKUs</a:t>
                      </a:r>
                    </a:p>
                  </a:txBody>
                  <a:tcPr marT="25400" marB="25400">
                    <a:solidFill>
                      <a:srgbClr val="FCFCFB"/>
                    </a:solidFill>
                  </a:tcPr>
                </a:tc>
                <a:tc>
                  <a:txBody>
                    <a:bodyPr wrap="square"/>
                    <a:lstStyle/>
                    <a:p>
                      <a:pPr algn="r"/>
                      <a:r>
                        <a:rPr sz="1100">
                          <a:solidFill>
                            <a:srgbClr val="0B0B0B"/>
                          </a:solidFill>
                          <a:latin typeface="Segoe UI"/>
                        </a:rPr>
                        <a:t>1,156.2</a:t>
                      </a:r>
                    </a:p>
                  </a:txBody>
                  <a:tcPr marT="25400" marB="25400">
                    <a:solidFill>
                      <a:srgbClr val="FCFCFB"/>
                    </a:solidFill>
                  </a:tcPr>
                </a:tc>
                <a:tc>
                  <a:txBody>
                    <a:bodyPr wrap="square"/>
                    <a:lstStyle/>
                    <a:p>
                      <a:pPr algn="r"/>
                      <a:r>
                        <a:rPr sz="1100">
                          <a:solidFill>
                            <a:srgbClr val="0B0B0B"/>
                          </a:solidFill>
                          <a:latin typeface="Segoe UI"/>
                        </a:rPr>
                        <a:t>2,718.5</a:t>
                      </a:r>
                    </a:p>
                  </a:txBody>
                  <a:tcPr marT="25400" marB="25400">
                    <a:solidFill>
                      <a:srgbClr val="FCFCFB"/>
                    </a:solidFill>
                  </a:tcPr>
                </a:tc>
              </a:tr>
              <a:tr h="365760">
                <a:tc>
                  <a:txBody>
                    <a:bodyPr wrap="square"/>
                    <a:lstStyle/>
                    <a:p>
                      <a:pPr algn="l"/>
                      <a:r>
                        <a:rPr sz="1100">
                          <a:solidFill>
                            <a:srgbClr val="0B0B0B"/>
                          </a:solidFill>
                          <a:latin typeface="Segoe UI"/>
                        </a:rPr>
                        <a:t>Mother Hub East · 51 SKUs</a:t>
                      </a:r>
                    </a:p>
                  </a:txBody>
                  <a:tcPr marT="25400" marB="25400">
                    <a:solidFill>
                      <a:srgbClr val="F0F4FA"/>
                    </a:solidFill>
                  </a:tcPr>
                </a:tc>
                <a:tc>
                  <a:txBody>
                    <a:bodyPr wrap="square"/>
                    <a:lstStyle/>
                    <a:p>
                      <a:pPr algn="r"/>
                      <a:r>
                        <a:rPr sz="1100">
                          <a:solidFill>
                            <a:srgbClr val="0B0B0B"/>
                          </a:solidFill>
                          <a:latin typeface="Segoe UI"/>
                        </a:rPr>
                        <a:t>332.0</a:t>
                      </a:r>
                    </a:p>
                  </a:txBody>
                  <a:tcPr marT="25400" marB="25400">
                    <a:solidFill>
                      <a:srgbClr val="F0F4FA"/>
                    </a:solidFill>
                  </a:tcPr>
                </a:tc>
                <a:tc>
                  <a:txBody>
                    <a:bodyPr wrap="square"/>
                    <a:lstStyle/>
                    <a:p>
                      <a:pPr algn="r"/>
                      <a:r>
                        <a:rPr sz="1100">
                          <a:solidFill>
                            <a:srgbClr val="0B0B0B"/>
                          </a:solidFill>
                          <a:latin typeface="Segoe UI"/>
                        </a:rPr>
                        <a:t>737.8</a:t>
                      </a:r>
                    </a:p>
                  </a:txBody>
                  <a:tcPr marT="25400" marB="25400">
                    <a:solidFill>
                      <a:srgbClr val="F0F4FA"/>
                    </a:solidFill>
                  </a:tcPr>
                </a:tc>
              </a:tr>
            </a:tbl>
          </a:graphicData>
        </a:graphic>
      </p:graphicFrame>
      <p:sp>
        <p:nvSpPr>
          <p:cNvPr id="10" name="Rounded Rectangle 9"/>
          <p:cNvSpPr/>
          <p:nvPr/>
        </p:nvSpPr>
        <p:spPr>
          <a:xfrm>
            <a:off x="7726679" y="3291840"/>
            <a:ext cx="3931920" cy="1188720"/>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79" y="3429000"/>
            <a:ext cx="3520440" cy="914400"/>
          </a:xfrm>
          <a:prstGeom prst="rect">
            <a:avLst/>
          </a:prstGeom>
          <a:noFill/>
        </p:spPr>
        <p:txBody>
          <a:bodyPr wrap="square" anchor="t" lIns="0" rIns="0" tIns="0" bIns="0">
            <a:spAutoFit/>
          </a:bodyPr>
          <a:lstStyle/>
          <a:p>
            <a:pPr algn="l">
              <a:lnSpc>
                <a:spcPct val="115000"/>
              </a:lnSpc>
              <a:spcAft>
                <a:spcPts val="400"/>
              </a:spcAft>
            </a:pPr>
            <a:r>
              <a:rPr sz="1100" b="0" i="0">
                <a:solidFill>
                  <a:srgbClr val="0B0B0B"/>
                </a:solidFill>
                <a:latin typeface="Segoe UI"/>
              </a:rPr>
              <a:t>Risk pooling: hub σ = √(Σ CFA variances) — the case's independence assumption makes hub buffers far cheaper than CFA buffers.</a:t>
            </a:r>
          </a:p>
        </p:txBody>
      </p:sp>
      <p:sp>
        <p:nvSpPr>
          <p:cNvPr id="12" name="Rounded Rectangle 11"/>
          <p:cNvSpPr/>
          <p:nvPr/>
        </p:nvSpPr>
        <p:spPr>
          <a:xfrm>
            <a:off x="7726679" y="4617720"/>
            <a:ext cx="3931920" cy="1188720"/>
          </a:xfrm>
          <a:prstGeom prst="roundRect">
            <a:avLst>
              <a:gd name="adj" fmla="val 7000"/>
            </a:avLst>
          </a:prstGeom>
          <a:solidFill>
            <a:srgbClr val="E2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79" y="4754880"/>
            <a:ext cx="3520440" cy="914400"/>
          </a:xfrm>
          <a:prstGeom prst="rect">
            <a:avLst/>
          </a:prstGeom>
          <a:noFill/>
        </p:spPr>
        <p:txBody>
          <a:bodyPr wrap="square" anchor="t" lIns="0" rIns="0" tIns="0" bIns="0">
            <a:spAutoFit/>
          </a:bodyPr>
          <a:lstStyle/>
          <a:p>
            <a:pPr algn="l">
              <a:lnSpc>
                <a:spcPct val="115000"/>
              </a:lnSpc>
              <a:spcAft>
                <a:spcPts val="400"/>
              </a:spcAft>
            </a:pPr>
            <a:r>
              <a:rPr sz="1100" b="1" i="0">
                <a:solidFill>
                  <a:srgbClr val="006300"/>
                </a:solidFill>
                <a:latin typeface="Segoe UI Semibold"/>
              </a:rPr>
              <a:t>Median cover: 6 days.  </a:t>
            </a:r>
            <a:r>
              <a:rPr sz="1100" b="0" i="0">
                <a:solidFill>
                  <a:srgbClr val="52514E"/>
                </a:solidFill>
                <a:latin typeface="Segoe UI"/>
              </a:rPr>
              <a:t>Full 957-row table: output workbook, “Norms - CFA”.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02920" y="384048"/>
            <a:ext cx="128016"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C5CAB"/>
                </a:solidFill>
                <a:latin typeface="Segoe UI Semibold"/>
              </a:rPr>
              <a:t>COMPONENT 1 · GOVERNANCE</a:t>
            </a:r>
          </a:p>
        </p:txBody>
      </p:sp>
      <p:sp>
        <p:nvSpPr>
          <p:cNvPr id="4" name="TextBox 3"/>
          <p:cNvSpPr txBox="1"/>
          <p:nvPr/>
        </p:nvSpPr>
        <p:spPr>
          <a:xfrm>
            <a:off x="777240" y="603504"/>
            <a:ext cx="10881360" cy="566928"/>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Anomalies are flagged, never silently normed</a:t>
            </a:r>
          </a:p>
        </p:txBody>
      </p:sp>
      <p:sp>
        <p:nvSpPr>
          <p:cNvPr id="5" name="Rectangle 4"/>
          <p:cNvSpPr/>
          <p:nvPr/>
        </p:nvSpPr>
        <p:spPr>
          <a:xfrm>
            <a:off x="0" y="6656832"/>
            <a:ext cx="12191695" cy="201168"/>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675120"/>
            <a:ext cx="8229600" cy="182880"/>
          </a:xfrm>
          <a:prstGeom prst="rect">
            <a:avLst/>
          </a:prstGeom>
          <a:noFill/>
        </p:spPr>
        <p:txBody>
          <a:bodyPr wrap="square" anchor="t" lIns="0" rIns="0" tIns="0" bIns="0">
            <a:spAutoFit/>
          </a:bodyPr>
          <a:lstStyle/>
          <a:p>
            <a:pPr algn="l">
              <a:lnSpc>
                <a:spcPct val="100000"/>
              </a:lnSpc>
              <a:spcAft>
                <a:spcPts val="400"/>
              </a:spcAft>
            </a:pPr>
            <a:r>
              <a:rPr sz="800" b="0" i="0">
                <a:solidFill>
                  <a:srgbClr val="CADCFC"/>
                </a:solidFill>
                <a:latin typeface="Segoe UI"/>
              </a:rPr>
              <a:t>Levisol India · Production, Distribution &amp; Inventory Optimisation</a:t>
            </a:r>
          </a:p>
        </p:txBody>
      </p:sp>
      <p:sp>
        <p:nvSpPr>
          <p:cNvPr id="7" name="TextBox 6"/>
          <p:cNvSpPr txBox="1"/>
          <p:nvPr/>
        </p:nvSpPr>
        <p:spPr>
          <a:xfrm>
            <a:off x="11247120" y="6675120"/>
            <a:ext cx="640080" cy="182880"/>
          </a:xfrm>
          <a:prstGeom prst="rect">
            <a:avLst/>
          </a:prstGeom>
          <a:noFill/>
        </p:spPr>
        <p:txBody>
          <a:bodyPr wrap="square" anchor="t" lIns="0" rIns="0" tIns="0" bIns="0">
            <a:spAutoFit/>
          </a:bodyPr>
          <a:lstStyle/>
          <a:p>
            <a:pPr algn="r">
              <a:lnSpc>
                <a:spcPct val="100000"/>
              </a:lnSpc>
              <a:spcAft>
                <a:spcPts val="400"/>
              </a:spcAft>
            </a:pPr>
            <a:r>
              <a:rPr sz="800" b="0" i="0">
                <a:solidFill>
                  <a:srgbClr val="CADCFC"/>
                </a:solidFill>
                <a:latin typeface="Segoe UI"/>
              </a:rPr>
              <a:t>09</a:t>
            </a:r>
          </a:p>
        </p:txBody>
      </p:sp>
      <p:pic>
        <p:nvPicPr>
          <p:cNvPr id="8" name="Picture 7" descr="07_doc_hist.png"/>
          <p:cNvPicPr>
            <a:picLocks noChangeAspect="1"/>
          </p:cNvPicPr>
          <p:nvPr/>
        </p:nvPicPr>
        <p:blipFill>
          <a:blip r:embed="rId3"/>
          <a:stretch>
            <a:fillRect/>
          </a:stretch>
        </p:blipFill>
        <p:spPr>
          <a:xfrm>
            <a:off x="502920" y="1864631"/>
            <a:ext cx="7132320" cy="3860256"/>
          </a:xfrm>
          <a:prstGeom prst="rect">
            <a:avLst/>
          </a:prstGeom>
        </p:spPr>
      </p:pic>
      <p:sp>
        <p:nvSpPr>
          <p:cNvPr id="9" name="Rounded Rectangle 8"/>
          <p:cNvSpPr/>
          <p:nvPr/>
        </p:nvSpPr>
        <p:spPr>
          <a:xfrm>
            <a:off x="7863840" y="1783080"/>
            <a:ext cx="3794760" cy="1225296"/>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1929384"/>
            <a:ext cx="1051560" cy="640080"/>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16</a:t>
            </a:r>
          </a:p>
        </p:txBody>
      </p:sp>
      <p:sp>
        <p:nvSpPr>
          <p:cNvPr id="11" name="TextBox 10"/>
          <p:cNvSpPr txBox="1"/>
          <p:nvPr/>
        </p:nvSpPr>
        <p:spPr>
          <a:xfrm>
            <a:off x="9098280" y="1929384"/>
            <a:ext cx="2468880" cy="320040"/>
          </a:xfrm>
          <a:prstGeom prst="rect">
            <a:avLst/>
          </a:prstGeom>
          <a:noFill/>
        </p:spPr>
        <p:txBody>
          <a:bodyPr wrap="square" anchor="t" lIns="0" rIns="0" tIns="0" bIns="0">
            <a:spAutoFit/>
          </a:bodyPr>
          <a:lstStyle/>
          <a:p>
            <a:pPr algn="l">
              <a:lnSpc>
                <a:spcPct val="100000"/>
              </a:lnSpc>
              <a:spcAft>
                <a:spcPts val="400"/>
              </a:spcAft>
            </a:pPr>
            <a:r>
              <a:rPr sz="1200" b="1" i="0">
                <a:solidFill>
                  <a:srgbClr val="0D366B"/>
                </a:solidFill>
                <a:latin typeface="Segoe UI Semibold"/>
              </a:rPr>
              <a:t>NO-SALES-6M</a:t>
            </a:r>
          </a:p>
        </p:txBody>
      </p:sp>
      <p:sp>
        <p:nvSpPr>
          <p:cNvPr id="12" name="TextBox 11"/>
          <p:cNvSpPr txBox="1"/>
          <p:nvPr/>
        </p:nvSpPr>
        <p:spPr>
          <a:xfrm>
            <a:off x="9098280" y="2258568"/>
            <a:ext cx="2468880" cy="731520"/>
          </a:xfrm>
          <a:prstGeom prst="rect">
            <a:avLst/>
          </a:prstGeom>
          <a:noFill/>
        </p:spPr>
        <p:txBody>
          <a:bodyPr wrap="square" anchor="t" lIns="0" rIns="0" tIns="0" bIns="0">
            <a:spAutoFit/>
          </a:bodyPr>
          <a:lstStyle/>
          <a:p>
            <a:pPr algn="l">
              <a:lnSpc>
                <a:spcPct val="105000"/>
              </a:lnSpc>
              <a:spcAft>
                <a:spcPts val="400"/>
              </a:spcAft>
            </a:pPr>
            <a:r>
              <a:rPr sz="1000" b="0" i="0">
                <a:solidFill>
                  <a:srgbClr val="52514E"/>
                </a:solidFill>
                <a:latin typeface="Segoe UI"/>
              </a:rPr>
              <a:t>zero history → norm suppressed, review the listing</a:t>
            </a:r>
          </a:p>
        </p:txBody>
      </p:sp>
      <p:sp>
        <p:nvSpPr>
          <p:cNvPr id="13" name="Rounded Rectangle 12"/>
          <p:cNvSpPr/>
          <p:nvPr/>
        </p:nvSpPr>
        <p:spPr>
          <a:xfrm>
            <a:off x="7863840" y="3154680"/>
            <a:ext cx="3794760" cy="1225296"/>
          </a:xfrm>
          <a:prstGeom prst="roundRect">
            <a:avLst>
              <a:gd name="adj" fmla="val 7000"/>
            </a:avLst>
          </a:prstGeom>
          <a:solidFill>
            <a:srgbClr val="FDF1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3300984"/>
            <a:ext cx="1051560" cy="640080"/>
          </a:xfrm>
          <a:prstGeom prst="rect">
            <a:avLst/>
          </a:prstGeom>
          <a:noFill/>
        </p:spPr>
        <p:txBody>
          <a:bodyPr wrap="square" anchor="t" lIns="0" rIns="0" tIns="0" bIns="0">
            <a:spAutoFit/>
          </a:bodyPr>
          <a:lstStyle/>
          <a:p>
            <a:pPr algn="l">
              <a:lnSpc>
                <a:spcPct val="100000"/>
              </a:lnSpc>
              <a:spcAft>
                <a:spcPts val="400"/>
              </a:spcAft>
            </a:pPr>
            <a:r>
              <a:rPr sz="2500" b="1" i="0">
                <a:solidFill>
                  <a:srgbClr val="B47A00"/>
                </a:solidFill>
                <a:latin typeface="Segoe UI Semibold"/>
              </a:rPr>
              <a:t>211</a:t>
            </a:r>
          </a:p>
        </p:txBody>
      </p:sp>
      <p:sp>
        <p:nvSpPr>
          <p:cNvPr id="15" name="TextBox 14"/>
          <p:cNvSpPr txBox="1"/>
          <p:nvPr/>
        </p:nvSpPr>
        <p:spPr>
          <a:xfrm>
            <a:off x="9098280" y="3300984"/>
            <a:ext cx="2468880" cy="320040"/>
          </a:xfrm>
          <a:prstGeom prst="rect">
            <a:avLst/>
          </a:prstGeom>
          <a:noFill/>
        </p:spPr>
        <p:txBody>
          <a:bodyPr wrap="square" anchor="t" lIns="0" rIns="0" tIns="0" bIns="0">
            <a:spAutoFit/>
          </a:bodyPr>
          <a:lstStyle/>
          <a:p>
            <a:pPr algn="l">
              <a:lnSpc>
                <a:spcPct val="100000"/>
              </a:lnSpc>
              <a:spcAft>
                <a:spcPts val="400"/>
              </a:spcAft>
            </a:pPr>
            <a:r>
              <a:rPr sz="1200" b="1" i="0">
                <a:solidFill>
                  <a:srgbClr val="B47A00"/>
                </a:solidFill>
                <a:latin typeface="Segoe UI Semibold"/>
              </a:rPr>
              <a:t>FORECAST-BIAS</a:t>
            </a:r>
          </a:p>
        </p:txBody>
      </p:sp>
      <p:sp>
        <p:nvSpPr>
          <p:cNvPr id="16" name="TextBox 15"/>
          <p:cNvSpPr txBox="1"/>
          <p:nvPr/>
        </p:nvSpPr>
        <p:spPr>
          <a:xfrm>
            <a:off x="9098280" y="3630168"/>
            <a:ext cx="2468880" cy="731520"/>
          </a:xfrm>
          <a:prstGeom prst="rect">
            <a:avLst/>
          </a:prstGeom>
          <a:noFill/>
        </p:spPr>
        <p:txBody>
          <a:bodyPr wrap="square" anchor="t" lIns="0" rIns="0" tIns="0" bIns="0">
            <a:spAutoFit/>
          </a:bodyPr>
          <a:lstStyle/>
          <a:p>
            <a:pPr algn="l">
              <a:lnSpc>
                <a:spcPct val="105000"/>
              </a:lnSpc>
              <a:spcAft>
                <a:spcPts val="400"/>
              </a:spcAft>
            </a:pPr>
            <a:r>
              <a:rPr sz="1000" b="0" i="0">
                <a:solidFill>
                  <a:srgbClr val="52514E"/>
                </a:solidFill>
                <a:latin typeface="Segoe UI"/>
              </a:rPr>
              <a:t>bias &gt; error σ → fix the forecast, not the stock</a:t>
            </a:r>
          </a:p>
        </p:txBody>
      </p:sp>
      <p:sp>
        <p:nvSpPr>
          <p:cNvPr id="17" name="Rounded Rectangle 16"/>
          <p:cNvSpPr/>
          <p:nvPr/>
        </p:nvSpPr>
        <p:spPr>
          <a:xfrm>
            <a:off x="7863840" y="4526280"/>
            <a:ext cx="3794760" cy="1225296"/>
          </a:xfrm>
          <a:prstGeom prst="roundRect">
            <a:avLst>
              <a:gd name="adj" fmla="val 7000"/>
            </a:avLst>
          </a:prstGeom>
          <a:solidFill>
            <a:srgbClr val="E2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4672584"/>
            <a:ext cx="1051560" cy="640080"/>
          </a:xfrm>
          <a:prstGeom prst="rect">
            <a:avLst/>
          </a:prstGeom>
          <a:noFill/>
        </p:spPr>
        <p:txBody>
          <a:bodyPr wrap="square" anchor="t" lIns="0" rIns="0" tIns="0" bIns="0">
            <a:spAutoFit/>
          </a:bodyPr>
          <a:lstStyle/>
          <a:p>
            <a:pPr algn="l">
              <a:lnSpc>
                <a:spcPct val="100000"/>
              </a:lnSpc>
              <a:spcAft>
                <a:spcPts val="400"/>
              </a:spcAft>
            </a:pPr>
            <a:r>
              <a:rPr sz="2500" b="1" i="0">
                <a:solidFill>
                  <a:srgbClr val="006300"/>
                </a:solidFill>
                <a:latin typeface="Segoe UI Semibold"/>
              </a:rPr>
              <a:t>7</a:t>
            </a:r>
          </a:p>
        </p:txBody>
      </p:sp>
      <p:sp>
        <p:nvSpPr>
          <p:cNvPr id="19" name="TextBox 18"/>
          <p:cNvSpPr txBox="1"/>
          <p:nvPr/>
        </p:nvSpPr>
        <p:spPr>
          <a:xfrm>
            <a:off x="9098280" y="4672584"/>
            <a:ext cx="2468880" cy="320040"/>
          </a:xfrm>
          <a:prstGeom prst="rect">
            <a:avLst/>
          </a:prstGeom>
          <a:noFill/>
        </p:spPr>
        <p:txBody>
          <a:bodyPr wrap="square" anchor="t" lIns="0" rIns="0" tIns="0" bIns="0">
            <a:spAutoFit/>
          </a:bodyPr>
          <a:lstStyle/>
          <a:p>
            <a:pPr algn="l">
              <a:lnSpc>
                <a:spcPct val="100000"/>
              </a:lnSpc>
              <a:spcAft>
                <a:spcPts val="400"/>
              </a:spcAft>
            </a:pPr>
            <a:r>
              <a:rPr sz="1200" b="1" i="0">
                <a:solidFill>
                  <a:srgbClr val="006300"/>
                </a:solidFill>
                <a:latin typeface="Segoe UI Semibold"/>
              </a:rPr>
              <a:t>HIGH-DOC</a:t>
            </a:r>
          </a:p>
        </p:txBody>
      </p:sp>
      <p:sp>
        <p:nvSpPr>
          <p:cNvPr id="20" name="TextBox 19"/>
          <p:cNvSpPr txBox="1"/>
          <p:nvPr/>
        </p:nvSpPr>
        <p:spPr>
          <a:xfrm>
            <a:off x="9098280" y="5001768"/>
            <a:ext cx="2468880" cy="731520"/>
          </a:xfrm>
          <a:prstGeom prst="rect">
            <a:avLst/>
          </a:prstGeom>
          <a:noFill/>
        </p:spPr>
        <p:txBody>
          <a:bodyPr wrap="square" anchor="t" lIns="0" rIns="0" tIns="0" bIns="0">
            <a:spAutoFit/>
          </a:bodyPr>
          <a:lstStyle/>
          <a:p>
            <a:pPr algn="l">
              <a:lnSpc>
                <a:spcPct val="105000"/>
              </a:lnSpc>
              <a:spcAft>
                <a:spcPts val="400"/>
              </a:spcAft>
            </a:pPr>
            <a:r>
              <a:rPr sz="1000" b="0" i="0">
                <a:solidFill>
                  <a:srgbClr val="52514E"/>
                </a:solidFill>
                <a:latin typeface="Segoe UI"/>
              </a:rPr>
              <a:t>cover &gt; 90 days → slow movers for manual review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02920" y="384048"/>
            <a:ext cx="128016"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C5CAB"/>
                </a:solidFill>
                <a:latin typeface="Segoe UI Semibold"/>
              </a:rPr>
              <a:t>COMPONENT 2 · THE MODEL</a:t>
            </a:r>
          </a:p>
        </p:txBody>
      </p:sp>
      <p:sp>
        <p:nvSpPr>
          <p:cNvPr id="4" name="TextBox 3"/>
          <p:cNvSpPr txBox="1"/>
          <p:nvPr/>
        </p:nvSpPr>
        <p:spPr>
          <a:xfrm>
            <a:off x="777240" y="603504"/>
            <a:ext cx="10881360" cy="566928"/>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A MILP that prices every trade-off — and is provably optimal</a:t>
            </a:r>
          </a:p>
        </p:txBody>
      </p:sp>
      <p:sp>
        <p:nvSpPr>
          <p:cNvPr id="5" name="Rectangle 4"/>
          <p:cNvSpPr/>
          <p:nvPr/>
        </p:nvSpPr>
        <p:spPr>
          <a:xfrm>
            <a:off x="0" y="6656832"/>
            <a:ext cx="12191695" cy="201168"/>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675120"/>
            <a:ext cx="8229600" cy="182880"/>
          </a:xfrm>
          <a:prstGeom prst="rect">
            <a:avLst/>
          </a:prstGeom>
          <a:noFill/>
        </p:spPr>
        <p:txBody>
          <a:bodyPr wrap="square" anchor="t" lIns="0" rIns="0" tIns="0" bIns="0">
            <a:spAutoFit/>
          </a:bodyPr>
          <a:lstStyle/>
          <a:p>
            <a:pPr algn="l">
              <a:lnSpc>
                <a:spcPct val="100000"/>
              </a:lnSpc>
              <a:spcAft>
                <a:spcPts val="400"/>
              </a:spcAft>
            </a:pPr>
            <a:r>
              <a:rPr sz="800" b="0" i="0">
                <a:solidFill>
                  <a:srgbClr val="CADCFC"/>
                </a:solidFill>
                <a:latin typeface="Segoe UI"/>
              </a:rPr>
              <a:t>Levisol India · Production, Distribution &amp; Inventory Optimisation</a:t>
            </a:r>
          </a:p>
        </p:txBody>
      </p:sp>
      <p:sp>
        <p:nvSpPr>
          <p:cNvPr id="7" name="TextBox 6"/>
          <p:cNvSpPr txBox="1"/>
          <p:nvPr/>
        </p:nvSpPr>
        <p:spPr>
          <a:xfrm>
            <a:off x="11247120" y="6675120"/>
            <a:ext cx="640080" cy="182880"/>
          </a:xfrm>
          <a:prstGeom prst="rect">
            <a:avLst/>
          </a:prstGeom>
          <a:noFill/>
        </p:spPr>
        <p:txBody>
          <a:bodyPr wrap="square" anchor="t" lIns="0" rIns="0" tIns="0" bIns="0">
            <a:spAutoFit/>
          </a:bodyPr>
          <a:lstStyle/>
          <a:p>
            <a:pPr algn="r">
              <a:lnSpc>
                <a:spcPct val="100000"/>
              </a:lnSpc>
              <a:spcAft>
                <a:spcPts val="400"/>
              </a:spcAft>
            </a:pPr>
            <a:r>
              <a:rPr sz="800" b="0" i="0">
                <a:solidFill>
                  <a:srgbClr val="CADCFC"/>
                </a:solidFill>
                <a:latin typeface="Segoe UI"/>
              </a:rPr>
              <a:t>10</a:t>
            </a:r>
          </a:p>
        </p:txBody>
      </p:sp>
      <p:sp>
        <p:nvSpPr>
          <p:cNvPr id="8" name="Rounded Rectangle 7"/>
          <p:cNvSpPr/>
          <p:nvPr/>
        </p:nvSpPr>
        <p:spPr>
          <a:xfrm>
            <a:off x="640080" y="1737360"/>
            <a:ext cx="5486400" cy="1371600"/>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19"/>
            <a:ext cx="5120640" cy="320040"/>
          </a:xfrm>
          <a:prstGeom prst="rect">
            <a:avLst/>
          </a:prstGeom>
          <a:noFill/>
        </p:spPr>
        <p:txBody>
          <a:bodyPr wrap="square" anchor="t" lIns="0" rIns="0" tIns="0" bIns="0">
            <a:spAutoFit/>
          </a:bodyPr>
          <a:lstStyle/>
          <a:p>
            <a:pPr algn="l">
              <a:lnSpc>
                <a:spcPct val="100000"/>
              </a:lnSpc>
              <a:spcAft>
                <a:spcPts val="400"/>
              </a:spcAft>
            </a:pPr>
            <a:r>
              <a:rPr sz="1100" b="1" i="0">
                <a:solidFill>
                  <a:srgbClr val="0D366B"/>
                </a:solidFill>
                <a:latin typeface="Segoe UI Semibold"/>
              </a:rPr>
              <a:t>MINIMISE</a:t>
            </a:r>
          </a:p>
        </p:txBody>
      </p:sp>
      <p:sp>
        <p:nvSpPr>
          <p:cNvPr id="10" name="TextBox 9"/>
          <p:cNvSpPr txBox="1"/>
          <p:nvPr/>
        </p:nvSpPr>
        <p:spPr>
          <a:xfrm>
            <a:off x="868680" y="2194560"/>
            <a:ext cx="5120640" cy="868680"/>
          </a:xfrm>
          <a:prstGeom prst="rect">
            <a:avLst/>
          </a:prstGeom>
          <a:noFill/>
        </p:spPr>
        <p:txBody>
          <a:bodyPr wrap="square" anchor="t" lIns="0" rIns="0" tIns="0" bIns="0">
            <a:spAutoFit/>
          </a:bodyPr>
          <a:lstStyle/>
          <a:p>
            <a:pPr algn="l">
              <a:lnSpc>
                <a:spcPct val="112000"/>
              </a:lnSpc>
              <a:spcAft>
                <a:spcPts val="400"/>
              </a:spcAft>
            </a:pPr>
            <a:r>
              <a:rPr sz="1150" b="0" i="0">
                <a:solidFill>
                  <a:srgbClr val="0B0B0B"/>
                </a:solidFill>
                <a:latin typeface="Consolas"/>
              </a:rPr>
              <a:t>production + freight (both legs)
+ penalty × (3× if contractual) × unmet demand
+ 0.25 × penalty × buffer shortfall</a:t>
            </a:r>
          </a:p>
        </p:txBody>
      </p:sp>
      <p:sp>
        <p:nvSpPr>
          <p:cNvPr id="11" name="TextBox 10"/>
          <p:cNvSpPr txBox="1"/>
          <p:nvPr/>
        </p:nvSpPr>
        <p:spPr>
          <a:xfrm>
            <a:off x="868680" y="3310128"/>
            <a:ext cx="5394960" cy="384048"/>
          </a:xfrm>
          <a:prstGeom prst="rect">
            <a:avLst/>
          </a:prstGeom>
          <a:noFill/>
        </p:spPr>
        <p:txBody>
          <a:bodyPr wrap="square" anchor="t" lIns="0" rIns="0" tIns="0" bIns="0">
            <a:spAutoFit/>
          </a:bodyPr>
          <a:lstStyle/>
          <a:p>
            <a:pPr algn="l">
              <a:lnSpc>
                <a:spcPct val="100000"/>
              </a:lnSpc>
              <a:spcAft>
                <a:spcPts val="400"/>
              </a:spcAft>
            </a:pPr>
            <a:r>
              <a:rPr sz="1150" b="1" i="0">
                <a:solidFill>
                  <a:srgbClr val="0D366B"/>
                </a:solidFill>
                <a:latin typeface="Segoe UI Semibold"/>
              </a:rPr>
              <a:t>Batch rule — </a:t>
            </a:r>
            <a:r>
              <a:rPr sz="1150" b="0" i="0">
                <a:solidFill>
                  <a:srgbClr val="0B0B0B"/>
                </a:solidFill>
                <a:latin typeface="Segoe UI"/>
              </a:rPr>
              <a:t>whole 25 kL batches; plants ship what they make</a:t>
            </a:r>
          </a:p>
        </p:txBody>
      </p:sp>
      <p:sp>
        <p:nvSpPr>
          <p:cNvPr id="12" name="TextBox 11"/>
          <p:cNvSpPr txBox="1"/>
          <p:nvPr/>
        </p:nvSpPr>
        <p:spPr>
          <a:xfrm>
            <a:off x="868680" y="3767328"/>
            <a:ext cx="5394960" cy="384048"/>
          </a:xfrm>
          <a:prstGeom prst="rect">
            <a:avLst/>
          </a:prstGeom>
          <a:noFill/>
        </p:spPr>
        <p:txBody>
          <a:bodyPr wrap="square" anchor="t" lIns="0" rIns="0" tIns="0" bIns="0">
            <a:spAutoFit/>
          </a:bodyPr>
          <a:lstStyle/>
          <a:p>
            <a:pPr algn="l">
              <a:lnSpc>
                <a:spcPct val="100000"/>
              </a:lnSpc>
              <a:spcAft>
                <a:spcPts val="400"/>
              </a:spcAft>
            </a:pPr>
            <a:r>
              <a:rPr sz="1150" b="1" i="0">
                <a:solidFill>
                  <a:srgbClr val="0D366B"/>
                </a:solidFill>
                <a:latin typeface="Segoe UI Semibold"/>
              </a:rPr>
              <a:t>Line capacity — </a:t>
            </a:r>
            <a:r>
              <a:rPr sz="1150" b="0" i="0">
                <a:solidFill>
                  <a:srgbClr val="0B0B0B"/>
                </a:solidFill>
                <a:latin typeface="Segoe UI"/>
              </a:rPr>
              <a:t>per plant per line ≤ Exhibit A (50 LT only at AHM)</a:t>
            </a:r>
          </a:p>
        </p:txBody>
      </p:sp>
      <p:sp>
        <p:nvSpPr>
          <p:cNvPr id="13" name="TextBox 12"/>
          <p:cNvSpPr txBox="1"/>
          <p:nvPr/>
        </p:nvSpPr>
        <p:spPr>
          <a:xfrm>
            <a:off x="868680" y="4224528"/>
            <a:ext cx="5394960" cy="384048"/>
          </a:xfrm>
          <a:prstGeom prst="rect">
            <a:avLst/>
          </a:prstGeom>
          <a:noFill/>
        </p:spPr>
        <p:txBody>
          <a:bodyPr wrap="square" anchor="t" lIns="0" rIns="0" tIns="0" bIns="0">
            <a:spAutoFit/>
          </a:bodyPr>
          <a:lstStyle/>
          <a:p>
            <a:pPr algn="l">
              <a:lnSpc>
                <a:spcPct val="100000"/>
              </a:lnSpc>
              <a:spcAft>
                <a:spcPts val="400"/>
              </a:spcAft>
            </a:pPr>
            <a:r>
              <a:rPr sz="1150" b="1" i="0">
                <a:solidFill>
                  <a:srgbClr val="0D366B"/>
                </a:solidFill>
                <a:latin typeface="Segoe UI Semibold"/>
              </a:rPr>
              <a:t>Hub balance — </a:t>
            </a:r>
            <a:r>
              <a:rPr sz="1150" b="0" i="0">
                <a:solidFill>
                  <a:srgbClr val="0B0B0B"/>
                </a:solidFill>
                <a:latin typeface="Segoe UI"/>
              </a:rPr>
              <a:t>ship ≤ opening + inbound; end-month ≥ 98% SS target (soft)</a:t>
            </a:r>
          </a:p>
        </p:txBody>
      </p:sp>
      <p:sp>
        <p:nvSpPr>
          <p:cNvPr id="14" name="TextBox 13"/>
          <p:cNvSpPr txBox="1"/>
          <p:nvPr/>
        </p:nvSpPr>
        <p:spPr>
          <a:xfrm>
            <a:off x="868680" y="4681728"/>
            <a:ext cx="5394960" cy="384048"/>
          </a:xfrm>
          <a:prstGeom prst="rect">
            <a:avLst/>
          </a:prstGeom>
          <a:noFill/>
        </p:spPr>
        <p:txBody>
          <a:bodyPr wrap="square" anchor="t" lIns="0" rIns="0" tIns="0" bIns="0">
            <a:spAutoFit/>
          </a:bodyPr>
          <a:lstStyle/>
          <a:p>
            <a:pPr algn="l">
              <a:lnSpc>
                <a:spcPct val="100000"/>
              </a:lnSpc>
              <a:spcAft>
                <a:spcPts val="400"/>
              </a:spcAft>
            </a:pPr>
            <a:r>
              <a:rPr sz="1150" b="1" i="0">
                <a:solidFill>
                  <a:srgbClr val="0D366B"/>
                </a:solidFill>
                <a:latin typeface="Segoe UI Semibold"/>
              </a:rPr>
              <a:t>Demand first — </a:t>
            </a:r>
            <a:r>
              <a:rPr sz="1150" b="0" i="0">
                <a:solidFill>
                  <a:srgbClr val="0B0B0B"/>
                </a:solidFill>
                <a:latin typeface="Segoe UI"/>
              </a:rPr>
              <a:t>buffers yield before sales; contractual SKUs protected 3×</a:t>
            </a:r>
          </a:p>
        </p:txBody>
      </p:sp>
      <p:sp>
        <p:nvSpPr>
          <p:cNvPr id="15" name="Rounded Rectangle 14"/>
          <p:cNvSpPr/>
          <p:nvPr/>
        </p:nvSpPr>
        <p:spPr>
          <a:xfrm>
            <a:off x="6492240" y="1737360"/>
            <a:ext cx="5120640" cy="2788920"/>
          </a:xfrm>
          <a:prstGeom prst="roundRect">
            <a:avLst>
              <a:gd name="adj" fmla="val 7000"/>
            </a:avLst>
          </a:prstGeom>
          <a:solidFill>
            <a:srgbClr val="E2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1874519"/>
            <a:ext cx="4663440" cy="320040"/>
          </a:xfrm>
          <a:prstGeom prst="rect">
            <a:avLst/>
          </a:prstGeom>
          <a:noFill/>
        </p:spPr>
        <p:txBody>
          <a:bodyPr wrap="square" anchor="t" lIns="0" rIns="0" tIns="0" bIns="0">
            <a:spAutoFit/>
          </a:bodyPr>
          <a:lstStyle/>
          <a:p>
            <a:pPr algn="l">
              <a:lnSpc>
                <a:spcPct val="100000"/>
              </a:lnSpc>
              <a:spcAft>
                <a:spcPts val="400"/>
              </a:spcAft>
            </a:pPr>
            <a:r>
              <a:rPr sz="1100" b="1" i="0">
                <a:solidFill>
                  <a:srgbClr val="006300"/>
                </a:solidFill>
                <a:latin typeface="Segoe UI Semibold"/>
              </a:rPr>
              <a:t>WHY THIS IS THE OPTIMUM</a:t>
            </a:r>
          </a:p>
        </p:txBody>
      </p:sp>
      <p:sp>
        <p:nvSpPr>
          <p:cNvPr id="17" name="TextBox 16"/>
          <p:cNvSpPr txBox="1"/>
          <p:nvPr/>
        </p:nvSpPr>
        <p:spPr>
          <a:xfrm>
            <a:off x="6720840" y="2240280"/>
            <a:ext cx="4709160" cy="2194560"/>
          </a:xfrm>
          <a:prstGeom prst="rect">
            <a:avLst/>
          </a:prstGeom>
          <a:noFill/>
        </p:spPr>
        <p:txBody>
          <a:bodyPr wrap="square" anchor="t" lIns="0" rIns="0" tIns="0" bIns="0">
            <a:spAutoFit/>
          </a:bodyPr>
          <a:lstStyle/>
          <a:p>
            <a:pPr algn="l">
              <a:lnSpc>
                <a:spcPct val="118000"/>
              </a:lnSpc>
              <a:spcAft>
                <a:spcPts val="400"/>
              </a:spcAft>
            </a:pPr>
            <a:r>
              <a:rPr sz="1150" b="0" i="0">
                <a:solidFill>
                  <a:srgbClr val="0B0B0B"/>
                </a:solidFill>
                <a:latin typeface="Segoe UI"/>
              </a:rPr>
              <a:t>Exact per-line decomposition → 5 small MILPs
solved to rel. gap 0.0 (HiGHS)
Cross-checks: monolithic solve ≥ ₹119.64M vs our ₹119.38M · LP lower bound ₹105.09M — the 13.6% delta is the 25 kL batch rule, correctly priced, not sub-optimality.</a:t>
            </a:r>
          </a:p>
        </p:txBody>
      </p:sp>
      <p:sp>
        <p:nvSpPr>
          <p:cNvPr id="18" name="Rounded Rectangle 17"/>
          <p:cNvSpPr/>
          <p:nvPr/>
        </p:nvSpPr>
        <p:spPr>
          <a:xfrm>
            <a:off x="6492240" y="4709160"/>
            <a:ext cx="5120640" cy="1234440"/>
          </a:xfrm>
          <a:prstGeom prst="roundRect">
            <a:avLst>
              <a:gd name="adj" fmla="val 7000"/>
            </a:avLst>
          </a:prstGeom>
          <a:solidFill>
            <a:srgbClr val="FDF1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0840" y="4846320"/>
            <a:ext cx="4663440" cy="914400"/>
          </a:xfrm>
          <a:prstGeom prst="rect">
            <a:avLst/>
          </a:prstGeom>
          <a:noFill/>
        </p:spPr>
        <p:txBody>
          <a:bodyPr wrap="square" anchor="t" lIns="0" rIns="0" tIns="0" bIns="0">
            <a:spAutoFit/>
          </a:bodyPr>
          <a:lstStyle/>
          <a:p>
            <a:pPr algn="l">
              <a:lnSpc>
                <a:spcPct val="115000"/>
              </a:lnSpc>
              <a:spcAft>
                <a:spcPts val="400"/>
              </a:spcAft>
            </a:pPr>
            <a:r>
              <a:rPr sz="1150" b="1" i="0">
                <a:solidFill>
                  <a:srgbClr val="B47A00"/>
                </a:solidFill>
                <a:latin typeface="Segoe UI Semibold"/>
              </a:rPr>
              <a:t>Scarcity logic:  </a:t>
            </a:r>
            <a:r>
              <a:rPr sz="1150" b="0" i="0">
                <a:solidFill>
                  <a:srgbClr val="0B0B0B"/>
                </a:solidFill>
                <a:latin typeface="Segoe UI"/>
              </a:rPr>
              <a:t>if capacity ever binds, shortfall variables keep the model feasible and shortages are auto-ranked by penalty &amp; contractual status.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02920" y="384048"/>
            <a:ext cx="128016"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C5CAB"/>
                </a:solidFill>
                <a:latin typeface="Segoe UI Semibold"/>
              </a:rPr>
              <a:t>COMPONENT 2 · PRODUCTION</a:t>
            </a:r>
          </a:p>
        </p:txBody>
      </p:sp>
      <p:sp>
        <p:nvSpPr>
          <p:cNvPr id="4" name="TextBox 3"/>
          <p:cNvSpPr txBox="1"/>
          <p:nvPr/>
        </p:nvSpPr>
        <p:spPr>
          <a:xfrm>
            <a:off x="777240" y="603504"/>
            <a:ext cx="10881360" cy="566928"/>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7,725 kL in 309 exact batches — cheapest capacity works hardest</a:t>
            </a:r>
          </a:p>
        </p:txBody>
      </p:sp>
      <p:sp>
        <p:nvSpPr>
          <p:cNvPr id="5" name="Rectangle 4"/>
          <p:cNvSpPr/>
          <p:nvPr/>
        </p:nvSpPr>
        <p:spPr>
          <a:xfrm>
            <a:off x="0" y="6656832"/>
            <a:ext cx="12191695" cy="201168"/>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675120"/>
            <a:ext cx="8229600" cy="182880"/>
          </a:xfrm>
          <a:prstGeom prst="rect">
            <a:avLst/>
          </a:prstGeom>
          <a:noFill/>
        </p:spPr>
        <p:txBody>
          <a:bodyPr wrap="square" anchor="t" lIns="0" rIns="0" tIns="0" bIns="0">
            <a:spAutoFit/>
          </a:bodyPr>
          <a:lstStyle/>
          <a:p>
            <a:pPr algn="l">
              <a:lnSpc>
                <a:spcPct val="100000"/>
              </a:lnSpc>
              <a:spcAft>
                <a:spcPts val="400"/>
              </a:spcAft>
            </a:pPr>
            <a:r>
              <a:rPr sz="800" b="0" i="0">
                <a:solidFill>
                  <a:srgbClr val="CADCFC"/>
                </a:solidFill>
                <a:latin typeface="Segoe UI"/>
              </a:rPr>
              <a:t>Levisol India · Production, Distribution &amp; Inventory Optimisation</a:t>
            </a:r>
          </a:p>
        </p:txBody>
      </p:sp>
      <p:sp>
        <p:nvSpPr>
          <p:cNvPr id="7" name="TextBox 6"/>
          <p:cNvSpPr txBox="1"/>
          <p:nvPr/>
        </p:nvSpPr>
        <p:spPr>
          <a:xfrm>
            <a:off x="11247120" y="6675120"/>
            <a:ext cx="640080" cy="182880"/>
          </a:xfrm>
          <a:prstGeom prst="rect">
            <a:avLst/>
          </a:prstGeom>
          <a:noFill/>
        </p:spPr>
        <p:txBody>
          <a:bodyPr wrap="square" anchor="t" lIns="0" rIns="0" tIns="0" bIns="0">
            <a:spAutoFit/>
          </a:bodyPr>
          <a:lstStyle/>
          <a:p>
            <a:pPr algn="r">
              <a:lnSpc>
                <a:spcPct val="100000"/>
              </a:lnSpc>
              <a:spcAft>
                <a:spcPts val="400"/>
              </a:spcAft>
            </a:pPr>
            <a:r>
              <a:rPr sz="800" b="0" i="0">
                <a:solidFill>
                  <a:srgbClr val="CADCFC"/>
                </a:solidFill>
                <a:latin typeface="Segoe UI"/>
              </a:rPr>
              <a:t>11</a:t>
            </a:r>
          </a:p>
        </p:txBody>
      </p:sp>
      <p:pic>
        <p:nvPicPr>
          <p:cNvPr id="8" name="Picture 7" descr="03_capacity_util.png"/>
          <p:cNvPicPr>
            <a:picLocks noChangeAspect="1"/>
          </p:cNvPicPr>
          <p:nvPr/>
        </p:nvPicPr>
        <p:blipFill>
          <a:blip r:embed="rId3"/>
          <a:stretch>
            <a:fillRect/>
          </a:stretch>
        </p:blipFill>
        <p:spPr>
          <a:xfrm>
            <a:off x="502920" y="1720196"/>
            <a:ext cx="7635240" cy="4423447"/>
          </a:xfrm>
          <a:prstGeom prst="rect">
            <a:avLst/>
          </a:prstGeom>
        </p:spPr>
      </p:pic>
      <p:graphicFrame>
        <p:nvGraphicFramePr>
          <p:cNvPr id="9" name="Table 8"/>
          <p:cNvGraphicFramePr>
            <a:graphicFrameLocks noGrp="1"/>
          </p:cNvGraphicFramePr>
          <p:nvPr/>
        </p:nvGraphicFramePr>
        <p:xfrm>
          <a:off x="8458200" y="1828800"/>
          <a:ext cx="3200399" cy="1920240"/>
        </p:xfrm>
        <a:graphic>
          <a:graphicData uri="http://schemas.openxmlformats.org/drawingml/2006/table">
            <a:tbl>
              <a:tblPr firstRow="0" bandRow="0">
                <a:tableStyleId>{5C22544A-7EE6-4342-B048-85BDC9FD1C3A}</a:tableStyleId>
              </a:tblPr>
              <a:tblGrid>
                <a:gridCol w="1163781"/>
                <a:gridCol w="969818"/>
                <a:gridCol w="1066800"/>
              </a:tblGrid>
              <a:tr h="384048">
                <a:tc>
                  <a:txBody>
                    <a:bodyPr wrap="square"/>
                    <a:lstStyle/>
                    <a:p>
                      <a:pPr algn="l"/>
                      <a:r>
                        <a:rPr sz="1200" b="1">
                          <a:solidFill>
                            <a:srgbClr val="FFFFFF"/>
                          </a:solidFill>
                          <a:latin typeface="Segoe UI Semibold"/>
                        </a:rPr>
                        <a:t>Plant</a:t>
                      </a:r>
                    </a:p>
                  </a:txBody>
                  <a:tcPr marT="25400" marB="25400">
                    <a:solidFill>
                      <a:srgbClr val="0D366B"/>
                    </a:solidFill>
                  </a:tcPr>
                </a:tc>
                <a:tc>
                  <a:txBody>
                    <a:bodyPr wrap="square"/>
                    <a:lstStyle/>
                    <a:p>
                      <a:pPr algn="r"/>
                      <a:r>
                        <a:rPr sz="1200" b="1">
                          <a:solidFill>
                            <a:srgbClr val="FFFFFF"/>
                          </a:solidFill>
                          <a:latin typeface="Segoe UI Semibold"/>
                        </a:rPr>
                        <a:t>kL</a:t>
                      </a:r>
                    </a:p>
                  </a:txBody>
                  <a:tcPr marT="25400" marB="25400">
                    <a:solidFill>
                      <a:srgbClr val="0D366B"/>
                    </a:solidFill>
                  </a:tcPr>
                </a:tc>
                <a:tc>
                  <a:txBody>
                    <a:bodyPr wrap="square"/>
                    <a:lstStyle/>
                    <a:p>
                      <a:pPr algn="r"/>
                      <a:r>
                        <a:rPr sz="1200" b="1">
                          <a:solidFill>
                            <a:srgbClr val="FFFFFF"/>
                          </a:solidFill>
                          <a:latin typeface="Segoe UI Semibold"/>
                        </a:rPr>
                        <a:t>₹</a:t>
                      </a:r>
                    </a:p>
                  </a:txBody>
                  <a:tcPr marT="25400" marB="25400">
                    <a:solidFill>
                      <a:srgbClr val="0D366B"/>
                    </a:solidFill>
                  </a:tcPr>
                </a:tc>
              </a:tr>
              <a:tr h="384048">
                <a:tc>
                  <a:txBody>
                    <a:bodyPr wrap="square"/>
                    <a:lstStyle/>
                    <a:p>
                      <a:pPr algn="l"/>
                      <a:r>
                        <a:rPr sz="1200">
                          <a:solidFill>
                            <a:srgbClr val="0B0B0B"/>
                          </a:solidFill>
                          <a:latin typeface="Segoe UI"/>
                        </a:rPr>
                        <a:t>BOM</a:t>
                      </a:r>
                    </a:p>
                  </a:txBody>
                  <a:tcPr marT="25400" marB="25400">
                    <a:solidFill>
                      <a:srgbClr val="FCFCFB"/>
                    </a:solidFill>
                  </a:tcPr>
                </a:tc>
                <a:tc>
                  <a:txBody>
                    <a:bodyPr wrap="square"/>
                    <a:lstStyle/>
                    <a:p>
                      <a:pPr algn="r"/>
                      <a:r>
                        <a:rPr sz="1200">
                          <a:solidFill>
                            <a:srgbClr val="0B0B0B"/>
                          </a:solidFill>
                          <a:latin typeface="Segoe UI"/>
                        </a:rPr>
                        <a:t>4,325</a:t>
                      </a:r>
                    </a:p>
                  </a:txBody>
                  <a:tcPr marT="25400" marB="25400">
                    <a:solidFill>
                      <a:srgbClr val="FCFCFB"/>
                    </a:solidFill>
                  </a:tcPr>
                </a:tc>
                <a:tc>
                  <a:txBody>
                    <a:bodyPr wrap="square"/>
                    <a:lstStyle/>
                    <a:p>
                      <a:pPr algn="r"/>
                      <a:r>
                        <a:rPr sz="1200">
                          <a:solidFill>
                            <a:srgbClr val="0B0B0B"/>
                          </a:solidFill>
                          <a:latin typeface="Segoe UI"/>
                        </a:rPr>
                        <a:t>51.9M</a:t>
                      </a:r>
                    </a:p>
                  </a:txBody>
                  <a:tcPr marT="25400" marB="25400">
                    <a:solidFill>
                      <a:srgbClr val="FCFCFB"/>
                    </a:solidFill>
                  </a:tcPr>
                </a:tc>
              </a:tr>
              <a:tr h="384048">
                <a:tc>
                  <a:txBody>
                    <a:bodyPr wrap="square"/>
                    <a:lstStyle/>
                    <a:p>
                      <a:pPr algn="l"/>
                      <a:r>
                        <a:rPr sz="1200">
                          <a:solidFill>
                            <a:srgbClr val="0B0B0B"/>
                          </a:solidFill>
                          <a:latin typeface="Segoe UI"/>
                        </a:rPr>
                        <a:t>KOL</a:t>
                      </a:r>
                    </a:p>
                  </a:txBody>
                  <a:tcPr marT="25400" marB="25400">
                    <a:solidFill>
                      <a:srgbClr val="F0F4FA"/>
                    </a:solidFill>
                  </a:tcPr>
                </a:tc>
                <a:tc>
                  <a:txBody>
                    <a:bodyPr wrap="square"/>
                    <a:lstStyle/>
                    <a:p>
                      <a:pPr algn="r"/>
                      <a:r>
                        <a:rPr sz="1200">
                          <a:solidFill>
                            <a:srgbClr val="0B0B0B"/>
                          </a:solidFill>
                          <a:latin typeface="Segoe UI"/>
                        </a:rPr>
                        <a:t>2,550</a:t>
                      </a:r>
                    </a:p>
                  </a:txBody>
                  <a:tcPr marT="25400" marB="25400">
                    <a:solidFill>
                      <a:srgbClr val="F0F4FA"/>
                    </a:solidFill>
                  </a:tcPr>
                </a:tc>
                <a:tc>
                  <a:txBody>
                    <a:bodyPr wrap="square"/>
                    <a:lstStyle/>
                    <a:p>
                      <a:pPr algn="r"/>
                      <a:r>
                        <a:rPr sz="1200">
                          <a:solidFill>
                            <a:srgbClr val="0B0B0B"/>
                          </a:solidFill>
                          <a:latin typeface="Segoe UI"/>
                        </a:rPr>
                        <a:t>22.95M</a:t>
                      </a:r>
                    </a:p>
                  </a:txBody>
                  <a:tcPr marT="25400" marB="25400">
                    <a:solidFill>
                      <a:srgbClr val="F0F4FA"/>
                    </a:solidFill>
                  </a:tcPr>
                </a:tc>
              </a:tr>
              <a:tr h="384048">
                <a:tc>
                  <a:txBody>
                    <a:bodyPr wrap="square"/>
                    <a:lstStyle/>
                    <a:p>
                      <a:pPr algn="l"/>
                      <a:r>
                        <a:rPr sz="1200">
                          <a:solidFill>
                            <a:srgbClr val="0B0B0B"/>
                          </a:solidFill>
                          <a:latin typeface="Segoe UI"/>
                        </a:rPr>
                        <a:t>AHM</a:t>
                      </a:r>
                    </a:p>
                  </a:txBody>
                  <a:tcPr marT="25400" marB="25400">
                    <a:solidFill>
                      <a:srgbClr val="FCFCFB"/>
                    </a:solidFill>
                  </a:tcPr>
                </a:tc>
                <a:tc>
                  <a:txBody>
                    <a:bodyPr wrap="square"/>
                    <a:lstStyle/>
                    <a:p>
                      <a:pPr algn="r"/>
                      <a:r>
                        <a:rPr sz="1200">
                          <a:solidFill>
                            <a:srgbClr val="0B0B0B"/>
                          </a:solidFill>
                          <a:latin typeface="Segoe UI"/>
                        </a:rPr>
                        <a:t>850</a:t>
                      </a:r>
                    </a:p>
                  </a:txBody>
                  <a:tcPr marT="25400" marB="25400">
                    <a:solidFill>
                      <a:srgbClr val="FCFCFB"/>
                    </a:solidFill>
                  </a:tcPr>
                </a:tc>
                <a:tc>
                  <a:txBody>
                    <a:bodyPr wrap="square"/>
                    <a:lstStyle/>
                    <a:p>
                      <a:pPr algn="r"/>
                      <a:r>
                        <a:rPr sz="1200">
                          <a:solidFill>
                            <a:srgbClr val="0B0B0B"/>
                          </a:solidFill>
                          <a:latin typeface="Segoe UI"/>
                        </a:rPr>
                        <a:t>10.63M</a:t>
                      </a:r>
                    </a:p>
                  </a:txBody>
                  <a:tcPr marT="25400" marB="25400">
                    <a:solidFill>
                      <a:srgbClr val="FCFCFB"/>
                    </a:solidFill>
                  </a:tcPr>
                </a:tc>
              </a:tr>
              <a:tr h="384048">
                <a:tc>
                  <a:txBody>
                    <a:bodyPr wrap="square"/>
                    <a:lstStyle/>
                    <a:p>
                      <a:pPr algn="l"/>
                      <a:r>
                        <a:rPr sz="1200" b="1">
                          <a:solidFill>
                            <a:srgbClr val="0B0B0B"/>
                          </a:solidFill>
                          <a:latin typeface="Segoe UI"/>
                        </a:rPr>
                        <a:t>TOTAL</a:t>
                      </a:r>
                    </a:p>
                  </a:txBody>
                  <a:tcPr marT="25400" marB="25400">
                    <a:solidFill>
                      <a:srgbClr val="F0F4FA"/>
                    </a:solidFill>
                  </a:tcPr>
                </a:tc>
                <a:tc>
                  <a:txBody>
                    <a:bodyPr wrap="square"/>
                    <a:lstStyle/>
                    <a:p>
                      <a:pPr algn="r"/>
                      <a:r>
                        <a:rPr sz="1200">
                          <a:solidFill>
                            <a:srgbClr val="0B0B0B"/>
                          </a:solidFill>
                          <a:latin typeface="Segoe UI"/>
                        </a:rPr>
                        <a:t>7,725</a:t>
                      </a:r>
                    </a:p>
                  </a:txBody>
                  <a:tcPr marT="25400" marB="25400">
                    <a:solidFill>
                      <a:srgbClr val="F0F4FA"/>
                    </a:solidFill>
                  </a:tcPr>
                </a:tc>
                <a:tc>
                  <a:txBody>
                    <a:bodyPr wrap="square"/>
                    <a:lstStyle/>
                    <a:p>
                      <a:pPr algn="r"/>
                      <a:r>
                        <a:rPr sz="1200">
                          <a:solidFill>
                            <a:srgbClr val="0B0B0B"/>
                          </a:solidFill>
                          <a:latin typeface="Segoe UI"/>
                        </a:rPr>
                        <a:t>85.48M</a:t>
                      </a:r>
                    </a:p>
                  </a:txBody>
                  <a:tcPr marT="25400" marB="25400">
                    <a:solidFill>
                      <a:srgbClr val="F0F4FA"/>
                    </a:solidFill>
                  </a:tcPr>
                </a:tc>
              </a:tr>
            </a:tbl>
          </a:graphicData>
        </a:graphic>
      </p:graphicFrame>
      <p:sp>
        <p:nvSpPr>
          <p:cNvPr id="10" name="Rounded Rectangle 9"/>
          <p:cNvSpPr/>
          <p:nvPr/>
        </p:nvSpPr>
        <p:spPr>
          <a:xfrm>
            <a:off x="8458200" y="4160520"/>
            <a:ext cx="3200400" cy="1463040"/>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4315968"/>
            <a:ext cx="2788920" cy="1188720"/>
          </a:xfrm>
          <a:prstGeom prst="rect">
            <a:avLst/>
          </a:prstGeom>
          <a:noFill/>
        </p:spPr>
        <p:txBody>
          <a:bodyPr wrap="square" anchor="t" lIns="0" rIns="0" tIns="0" bIns="0">
            <a:spAutoFit/>
          </a:bodyPr>
          <a:lstStyle/>
          <a:p>
            <a:pPr algn="l">
              <a:lnSpc>
                <a:spcPct val="120000"/>
              </a:lnSpc>
              <a:spcAft>
                <a:spcPts val="400"/>
              </a:spcAft>
            </a:pPr>
            <a:r>
              <a:rPr sz="1150" b="0" i="0">
                <a:solidFill>
                  <a:srgbClr val="0B0B0B"/>
                </a:solidFill>
                <a:latin typeface="Segoe UI"/>
              </a:rPr>
              <a:t>AHM's 3,420 kL of slack is deliberate — the swing plant absorbs assessment-day shocks.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02920" y="384048"/>
            <a:ext cx="128016"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C5CAB"/>
                </a:solidFill>
                <a:latin typeface="Segoe UI Semibold"/>
              </a:rPr>
              <a:t>COMPONENT 2 · DISTRIBUTION</a:t>
            </a:r>
          </a:p>
        </p:txBody>
      </p:sp>
      <p:sp>
        <p:nvSpPr>
          <p:cNvPr id="4" name="TextBox 3"/>
          <p:cNvSpPr txBox="1"/>
          <p:nvPr/>
        </p:nvSpPr>
        <p:spPr>
          <a:xfrm>
            <a:off x="777240" y="603504"/>
            <a:ext cx="10881360" cy="566928"/>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Geography decides the routes: East from KOL/MHE, West-South from BOM/MHW</a:t>
            </a:r>
          </a:p>
        </p:txBody>
      </p:sp>
      <p:sp>
        <p:nvSpPr>
          <p:cNvPr id="5" name="Rectangle 4"/>
          <p:cNvSpPr/>
          <p:nvPr/>
        </p:nvSpPr>
        <p:spPr>
          <a:xfrm>
            <a:off x="0" y="6656832"/>
            <a:ext cx="12191695" cy="201168"/>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675120"/>
            <a:ext cx="8229600" cy="182880"/>
          </a:xfrm>
          <a:prstGeom prst="rect">
            <a:avLst/>
          </a:prstGeom>
          <a:noFill/>
        </p:spPr>
        <p:txBody>
          <a:bodyPr wrap="square" anchor="t" lIns="0" rIns="0" tIns="0" bIns="0">
            <a:spAutoFit/>
          </a:bodyPr>
          <a:lstStyle/>
          <a:p>
            <a:pPr algn="l">
              <a:lnSpc>
                <a:spcPct val="100000"/>
              </a:lnSpc>
              <a:spcAft>
                <a:spcPts val="400"/>
              </a:spcAft>
            </a:pPr>
            <a:r>
              <a:rPr sz="800" b="0" i="0">
                <a:solidFill>
                  <a:srgbClr val="CADCFC"/>
                </a:solidFill>
                <a:latin typeface="Segoe UI"/>
              </a:rPr>
              <a:t>Levisol India · Production, Distribution &amp; Inventory Optimisation</a:t>
            </a:r>
          </a:p>
        </p:txBody>
      </p:sp>
      <p:sp>
        <p:nvSpPr>
          <p:cNvPr id="7" name="TextBox 6"/>
          <p:cNvSpPr txBox="1"/>
          <p:nvPr/>
        </p:nvSpPr>
        <p:spPr>
          <a:xfrm>
            <a:off x="11247120" y="6675120"/>
            <a:ext cx="640080" cy="182880"/>
          </a:xfrm>
          <a:prstGeom prst="rect">
            <a:avLst/>
          </a:prstGeom>
          <a:noFill/>
        </p:spPr>
        <p:txBody>
          <a:bodyPr wrap="square" anchor="t" lIns="0" rIns="0" tIns="0" bIns="0">
            <a:spAutoFit/>
          </a:bodyPr>
          <a:lstStyle/>
          <a:p>
            <a:pPr algn="r">
              <a:lnSpc>
                <a:spcPct val="100000"/>
              </a:lnSpc>
              <a:spcAft>
                <a:spcPts val="400"/>
              </a:spcAft>
            </a:pPr>
            <a:r>
              <a:rPr sz="800" b="0" i="0">
                <a:solidFill>
                  <a:srgbClr val="CADCFC"/>
                </a:solidFill>
                <a:latin typeface="Segoe UI"/>
              </a:rPr>
              <a:t>12</a:t>
            </a:r>
          </a:p>
        </p:txBody>
      </p:sp>
      <p:pic>
        <p:nvPicPr>
          <p:cNvPr id="8" name="Picture 7" descr="01_network_flow.png"/>
          <p:cNvPicPr>
            <a:picLocks noChangeAspect="1"/>
          </p:cNvPicPr>
          <p:nvPr/>
        </p:nvPicPr>
        <p:blipFill>
          <a:blip r:embed="rId3"/>
          <a:stretch>
            <a:fillRect/>
          </a:stretch>
        </p:blipFill>
        <p:spPr>
          <a:xfrm>
            <a:off x="2214077" y="1600200"/>
            <a:ext cx="7779084" cy="48920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02920" y="384048"/>
            <a:ext cx="128016"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C5CAB"/>
                </a:solidFill>
                <a:latin typeface="Segoe UI Semibold"/>
              </a:rPr>
              <a:t>COMPONENT 2 · ECONOMICS</a:t>
            </a:r>
          </a:p>
        </p:txBody>
      </p:sp>
      <p:sp>
        <p:nvSpPr>
          <p:cNvPr id="4" name="TextBox 3"/>
          <p:cNvSpPr txBox="1"/>
          <p:nvPr/>
        </p:nvSpPr>
        <p:spPr>
          <a:xfrm>
            <a:off x="777240" y="603504"/>
            <a:ext cx="10881360" cy="566928"/>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Landed cost drives everything; both hubs finish above their buffers</a:t>
            </a:r>
          </a:p>
        </p:txBody>
      </p:sp>
      <p:sp>
        <p:nvSpPr>
          <p:cNvPr id="5" name="Rectangle 4"/>
          <p:cNvSpPr/>
          <p:nvPr/>
        </p:nvSpPr>
        <p:spPr>
          <a:xfrm>
            <a:off x="0" y="6656832"/>
            <a:ext cx="12191695" cy="201168"/>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675120"/>
            <a:ext cx="8229600" cy="182880"/>
          </a:xfrm>
          <a:prstGeom prst="rect">
            <a:avLst/>
          </a:prstGeom>
          <a:noFill/>
        </p:spPr>
        <p:txBody>
          <a:bodyPr wrap="square" anchor="t" lIns="0" rIns="0" tIns="0" bIns="0">
            <a:spAutoFit/>
          </a:bodyPr>
          <a:lstStyle/>
          <a:p>
            <a:pPr algn="l">
              <a:lnSpc>
                <a:spcPct val="100000"/>
              </a:lnSpc>
              <a:spcAft>
                <a:spcPts val="400"/>
              </a:spcAft>
            </a:pPr>
            <a:r>
              <a:rPr sz="800" b="0" i="0">
                <a:solidFill>
                  <a:srgbClr val="CADCFC"/>
                </a:solidFill>
                <a:latin typeface="Segoe UI"/>
              </a:rPr>
              <a:t>Levisol India · Production, Distribution &amp; Inventory Optimisation</a:t>
            </a:r>
          </a:p>
        </p:txBody>
      </p:sp>
      <p:sp>
        <p:nvSpPr>
          <p:cNvPr id="7" name="TextBox 6"/>
          <p:cNvSpPr txBox="1"/>
          <p:nvPr/>
        </p:nvSpPr>
        <p:spPr>
          <a:xfrm>
            <a:off x="11247120" y="6675120"/>
            <a:ext cx="640080" cy="182880"/>
          </a:xfrm>
          <a:prstGeom prst="rect">
            <a:avLst/>
          </a:prstGeom>
          <a:noFill/>
        </p:spPr>
        <p:txBody>
          <a:bodyPr wrap="square" anchor="t" lIns="0" rIns="0" tIns="0" bIns="0">
            <a:spAutoFit/>
          </a:bodyPr>
          <a:lstStyle/>
          <a:p>
            <a:pPr algn="r">
              <a:lnSpc>
                <a:spcPct val="100000"/>
              </a:lnSpc>
              <a:spcAft>
                <a:spcPts val="400"/>
              </a:spcAft>
            </a:pPr>
            <a:r>
              <a:rPr sz="800" b="0" i="0">
                <a:solidFill>
                  <a:srgbClr val="CADCFC"/>
                </a:solidFill>
                <a:latin typeface="Segoe UI"/>
              </a:rPr>
              <a:t>13</a:t>
            </a:r>
          </a:p>
        </p:txBody>
      </p:sp>
      <p:pic>
        <p:nvPicPr>
          <p:cNvPr id="8" name="Picture 7" descr="11_landed_cost.png"/>
          <p:cNvPicPr>
            <a:picLocks noChangeAspect="1"/>
          </p:cNvPicPr>
          <p:nvPr/>
        </p:nvPicPr>
        <p:blipFill>
          <a:blip r:embed="rId3"/>
          <a:stretch>
            <a:fillRect/>
          </a:stretch>
        </p:blipFill>
        <p:spPr>
          <a:xfrm>
            <a:off x="502920" y="2330912"/>
            <a:ext cx="5760720" cy="3019135"/>
          </a:xfrm>
          <a:prstGeom prst="rect">
            <a:avLst/>
          </a:prstGeom>
        </p:spPr>
      </p:pic>
      <p:pic>
        <p:nvPicPr>
          <p:cNvPr id="9" name="Picture 8" descr="09_hub_stock.png"/>
          <p:cNvPicPr>
            <a:picLocks noChangeAspect="1"/>
          </p:cNvPicPr>
          <p:nvPr/>
        </p:nvPicPr>
        <p:blipFill>
          <a:blip r:embed="rId4"/>
          <a:stretch>
            <a:fillRect/>
          </a:stretch>
        </p:blipFill>
        <p:spPr>
          <a:xfrm>
            <a:off x="6400800" y="2348140"/>
            <a:ext cx="5303520" cy="2984679"/>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02920" y="384048"/>
            <a:ext cx="128016"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C5CAB"/>
                </a:solidFill>
                <a:latin typeface="Segoe UI Semibold"/>
              </a:rPr>
              <a:t>COMPONENT 2 · COST</a:t>
            </a:r>
          </a:p>
        </p:txBody>
      </p:sp>
      <p:sp>
        <p:nvSpPr>
          <p:cNvPr id="4" name="TextBox 3"/>
          <p:cNvSpPr txBox="1"/>
          <p:nvPr/>
        </p:nvSpPr>
        <p:spPr>
          <a:xfrm>
            <a:off x="777240" y="603504"/>
            <a:ext cx="10881360" cy="566928"/>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₹11.44 crore cash — and a penalty line of exactly zero</a:t>
            </a:r>
          </a:p>
        </p:txBody>
      </p:sp>
      <p:sp>
        <p:nvSpPr>
          <p:cNvPr id="5" name="Rectangle 4"/>
          <p:cNvSpPr/>
          <p:nvPr/>
        </p:nvSpPr>
        <p:spPr>
          <a:xfrm>
            <a:off x="0" y="6656832"/>
            <a:ext cx="12191695" cy="201168"/>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675120"/>
            <a:ext cx="8229600" cy="182880"/>
          </a:xfrm>
          <a:prstGeom prst="rect">
            <a:avLst/>
          </a:prstGeom>
          <a:noFill/>
        </p:spPr>
        <p:txBody>
          <a:bodyPr wrap="square" anchor="t" lIns="0" rIns="0" tIns="0" bIns="0">
            <a:spAutoFit/>
          </a:bodyPr>
          <a:lstStyle/>
          <a:p>
            <a:pPr algn="l">
              <a:lnSpc>
                <a:spcPct val="100000"/>
              </a:lnSpc>
              <a:spcAft>
                <a:spcPts val="400"/>
              </a:spcAft>
            </a:pPr>
            <a:r>
              <a:rPr sz="800" b="0" i="0">
                <a:solidFill>
                  <a:srgbClr val="CADCFC"/>
                </a:solidFill>
                <a:latin typeface="Segoe UI"/>
              </a:rPr>
              <a:t>Levisol India · Production, Distribution &amp; Inventory Optimisation</a:t>
            </a:r>
          </a:p>
        </p:txBody>
      </p:sp>
      <p:sp>
        <p:nvSpPr>
          <p:cNvPr id="7" name="TextBox 6"/>
          <p:cNvSpPr txBox="1"/>
          <p:nvPr/>
        </p:nvSpPr>
        <p:spPr>
          <a:xfrm>
            <a:off x="11247120" y="6675120"/>
            <a:ext cx="640080" cy="182880"/>
          </a:xfrm>
          <a:prstGeom prst="rect">
            <a:avLst/>
          </a:prstGeom>
          <a:noFill/>
        </p:spPr>
        <p:txBody>
          <a:bodyPr wrap="square" anchor="t" lIns="0" rIns="0" tIns="0" bIns="0">
            <a:spAutoFit/>
          </a:bodyPr>
          <a:lstStyle/>
          <a:p>
            <a:pPr algn="r">
              <a:lnSpc>
                <a:spcPct val="100000"/>
              </a:lnSpc>
              <a:spcAft>
                <a:spcPts val="400"/>
              </a:spcAft>
            </a:pPr>
            <a:r>
              <a:rPr sz="800" b="0" i="0">
                <a:solidFill>
                  <a:srgbClr val="CADCFC"/>
                </a:solidFill>
                <a:latin typeface="Segoe UI"/>
              </a:rPr>
              <a:t>14</a:t>
            </a:r>
          </a:p>
        </p:txBody>
      </p:sp>
      <p:pic>
        <p:nvPicPr>
          <p:cNvPr id="8" name="Picture 7" descr="02_cost_breakdown.png"/>
          <p:cNvPicPr>
            <a:picLocks noChangeAspect="1"/>
          </p:cNvPicPr>
          <p:nvPr/>
        </p:nvPicPr>
        <p:blipFill>
          <a:blip r:embed="rId3"/>
          <a:stretch>
            <a:fillRect/>
          </a:stretch>
        </p:blipFill>
        <p:spPr>
          <a:xfrm>
            <a:off x="548640" y="1917960"/>
            <a:ext cx="7406640" cy="3387838"/>
          </a:xfrm>
          <a:prstGeom prst="rect">
            <a:avLst/>
          </a:prstGeom>
        </p:spPr>
      </p:pic>
      <p:graphicFrame>
        <p:nvGraphicFramePr>
          <p:cNvPr id="9" name="Table 8"/>
          <p:cNvGraphicFramePr>
            <a:graphicFrameLocks noGrp="1"/>
          </p:cNvGraphicFramePr>
          <p:nvPr/>
        </p:nvGraphicFramePr>
        <p:xfrm>
          <a:off x="8229600" y="1783080"/>
          <a:ext cx="3428999" cy="2194560"/>
        </p:xfrm>
        <a:graphic>
          <a:graphicData uri="http://schemas.openxmlformats.org/drawingml/2006/table">
            <a:tbl>
              <a:tblPr firstRow="0" bandRow="0">
                <a:tableStyleId>{5C22544A-7EE6-4342-B048-85BDC9FD1C3A}</a:tableStyleId>
              </a:tblPr>
              <a:tblGrid>
                <a:gridCol w="1567542"/>
                <a:gridCol w="1861457"/>
              </a:tblGrid>
              <a:tr h="365760">
                <a:tc>
                  <a:txBody>
                    <a:bodyPr wrap="square"/>
                    <a:lstStyle/>
                    <a:p>
                      <a:pPr algn="l"/>
                      <a:r>
                        <a:rPr sz="1150" b="1">
                          <a:solidFill>
                            <a:srgbClr val="FFFFFF"/>
                          </a:solidFill>
                          <a:latin typeface="Segoe UI Semibold"/>
                        </a:rPr>
                        <a:t>Element</a:t>
                      </a:r>
                    </a:p>
                  </a:txBody>
                  <a:tcPr marT="25400" marB="25400">
                    <a:solidFill>
                      <a:srgbClr val="0D366B"/>
                    </a:solidFill>
                  </a:tcPr>
                </a:tc>
                <a:tc>
                  <a:txBody>
                    <a:bodyPr wrap="square"/>
                    <a:lstStyle/>
                    <a:p>
                      <a:pPr algn="r"/>
                      <a:r>
                        <a:rPr sz="1150" b="1">
                          <a:solidFill>
                            <a:srgbClr val="FFFFFF"/>
                          </a:solidFill>
                          <a:latin typeface="Segoe UI Semibold"/>
                        </a:rPr>
                        <a:t>₹</a:t>
                      </a:r>
                    </a:p>
                  </a:txBody>
                  <a:tcPr marT="25400" marB="25400">
                    <a:solidFill>
                      <a:srgbClr val="0D366B"/>
                    </a:solidFill>
                  </a:tcPr>
                </a:tc>
              </a:tr>
              <a:tr h="365760">
                <a:tc>
                  <a:txBody>
                    <a:bodyPr wrap="square"/>
                    <a:lstStyle/>
                    <a:p>
                      <a:pPr algn="l"/>
                      <a:r>
                        <a:rPr sz="1150">
                          <a:solidFill>
                            <a:srgbClr val="0B0B0B"/>
                          </a:solidFill>
                          <a:latin typeface="Segoe UI"/>
                        </a:rPr>
                        <a:t>Production</a:t>
                      </a:r>
                    </a:p>
                  </a:txBody>
                  <a:tcPr marT="25400" marB="25400">
                    <a:solidFill>
                      <a:srgbClr val="FCFCFB"/>
                    </a:solidFill>
                  </a:tcPr>
                </a:tc>
                <a:tc>
                  <a:txBody>
                    <a:bodyPr wrap="square"/>
                    <a:lstStyle/>
                    <a:p>
                      <a:pPr algn="r"/>
                      <a:r>
                        <a:rPr sz="1150">
                          <a:solidFill>
                            <a:srgbClr val="0B0B0B"/>
                          </a:solidFill>
                          <a:latin typeface="Segoe UI"/>
                        </a:rPr>
                        <a:t>85,475,000</a:t>
                      </a:r>
                    </a:p>
                  </a:txBody>
                  <a:tcPr marT="25400" marB="25400">
                    <a:solidFill>
                      <a:srgbClr val="FCFCFB"/>
                    </a:solidFill>
                  </a:tcPr>
                </a:tc>
              </a:tr>
              <a:tr h="365760">
                <a:tc>
                  <a:txBody>
                    <a:bodyPr wrap="square"/>
                    <a:lstStyle/>
                    <a:p>
                      <a:pPr algn="l"/>
                      <a:r>
                        <a:rPr sz="1150">
                          <a:solidFill>
                            <a:srgbClr val="0B0B0B"/>
                          </a:solidFill>
                          <a:latin typeface="Segoe UI"/>
                        </a:rPr>
                        <a:t>Plant→Hub</a:t>
                      </a:r>
                    </a:p>
                  </a:txBody>
                  <a:tcPr marT="25400" marB="25400">
                    <a:solidFill>
                      <a:srgbClr val="F0F4FA"/>
                    </a:solidFill>
                  </a:tcPr>
                </a:tc>
                <a:tc>
                  <a:txBody>
                    <a:bodyPr wrap="square"/>
                    <a:lstStyle/>
                    <a:p>
                      <a:pPr algn="r"/>
                      <a:r>
                        <a:rPr sz="1150">
                          <a:solidFill>
                            <a:srgbClr val="0B0B0B"/>
                          </a:solidFill>
                          <a:latin typeface="Segoe UI"/>
                        </a:rPr>
                        <a:t>10,719,136</a:t>
                      </a:r>
                    </a:p>
                  </a:txBody>
                  <a:tcPr marT="25400" marB="25400">
                    <a:solidFill>
                      <a:srgbClr val="F0F4FA"/>
                    </a:solidFill>
                  </a:tcPr>
                </a:tc>
              </a:tr>
              <a:tr h="365760">
                <a:tc>
                  <a:txBody>
                    <a:bodyPr wrap="square"/>
                    <a:lstStyle/>
                    <a:p>
                      <a:pPr algn="l"/>
                      <a:r>
                        <a:rPr sz="1150">
                          <a:solidFill>
                            <a:srgbClr val="0B0B0B"/>
                          </a:solidFill>
                          <a:latin typeface="Segoe UI"/>
                        </a:rPr>
                        <a:t>Hub→CFA</a:t>
                      </a:r>
                    </a:p>
                  </a:txBody>
                  <a:tcPr marT="25400" marB="25400">
                    <a:solidFill>
                      <a:srgbClr val="FCFCFB"/>
                    </a:solidFill>
                  </a:tcPr>
                </a:tc>
                <a:tc>
                  <a:txBody>
                    <a:bodyPr wrap="square"/>
                    <a:lstStyle/>
                    <a:p>
                      <a:pPr algn="r"/>
                      <a:r>
                        <a:rPr sz="1150">
                          <a:solidFill>
                            <a:srgbClr val="0B0B0B"/>
                          </a:solidFill>
                          <a:latin typeface="Segoe UI"/>
                        </a:rPr>
                        <a:t>18,217,648</a:t>
                      </a:r>
                    </a:p>
                  </a:txBody>
                  <a:tcPr marT="25400" marB="25400">
                    <a:solidFill>
                      <a:srgbClr val="FCFCFB"/>
                    </a:solidFill>
                  </a:tcPr>
                </a:tc>
              </a:tr>
              <a:tr h="365760">
                <a:tc>
                  <a:txBody>
                    <a:bodyPr wrap="square"/>
                    <a:lstStyle/>
                    <a:p>
                      <a:pPr algn="l"/>
                      <a:r>
                        <a:rPr sz="1150">
                          <a:solidFill>
                            <a:srgbClr val="0B0B0B"/>
                          </a:solidFill>
                          <a:latin typeface="Segoe UI"/>
                        </a:rPr>
                        <a:t>Penalty</a:t>
                      </a:r>
                    </a:p>
                  </a:txBody>
                  <a:tcPr marT="25400" marB="25400">
                    <a:solidFill>
                      <a:srgbClr val="F0F4FA"/>
                    </a:solidFill>
                  </a:tcPr>
                </a:tc>
                <a:tc>
                  <a:txBody>
                    <a:bodyPr wrap="square"/>
                    <a:lstStyle/>
                    <a:p>
                      <a:pPr algn="r"/>
                      <a:r>
                        <a:rPr sz="1150">
                          <a:solidFill>
                            <a:srgbClr val="0B0B0B"/>
                          </a:solidFill>
                          <a:latin typeface="Segoe UI"/>
                        </a:rPr>
                        <a:t>0</a:t>
                      </a:r>
                    </a:p>
                  </a:txBody>
                  <a:tcPr marT="25400" marB="25400">
                    <a:solidFill>
                      <a:srgbClr val="F0F4FA"/>
                    </a:solidFill>
                  </a:tcPr>
                </a:tc>
              </a:tr>
              <a:tr h="365760">
                <a:tc>
                  <a:txBody>
                    <a:bodyPr wrap="square"/>
                    <a:lstStyle/>
                    <a:p>
                      <a:pPr algn="l"/>
                      <a:r>
                        <a:rPr sz="1150" b="1">
                          <a:solidFill>
                            <a:srgbClr val="0B0B0B"/>
                          </a:solidFill>
                          <a:latin typeface="Segoe UI"/>
                        </a:rPr>
                        <a:t>TOTAL</a:t>
                      </a:r>
                    </a:p>
                  </a:txBody>
                  <a:tcPr marT="25400" marB="25400">
                    <a:solidFill>
                      <a:srgbClr val="FCFCFB"/>
                    </a:solidFill>
                  </a:tcPr>
                </a:tc>
                <a:tc>
                  <a:txBody>
                    <a:bodyPr wrap="square"/>
                    <a:lstStyle/>
                    <a:p>
                      <a:pPr algn="r"/>
                      <a:r>
                        <a:rPr sz="1150">
                          <a:solidFill>
                            <a:srgbClr val="0B0B0B"/>
                          </a:solidFill>
                          <a:latin typeface="Segoe UI"/>
                        </a:rPr>
                        <a:t>114,411,784</a:t>
                      </a:r>
                    </a:p>
                  </a:txBody>
                  <a:tcPr marT="25400" marB="25400">
                    <a:solidFill>
                      <a:srgbClr val="FCFCFB"/>
                    </a:solidFill>
                  </a:tcPr>
                </a:tc>
              </a:tr>
            </a:tbl>
          </a:graphicData>
        </a:graphic>
      </p:graphicFrame>
      <p:sp>
        <p:nvSpPr>
          <p:cNvPr id="10" name="Rounded Rectangle 9"/>
          <p:cNvSpPr/>
          <p:nvPr/>
        </p:nvSpPr>
        <p:spPr>
          <a:xfrm>
            <a:off x="8229600" y="4114800"/>
            <a:ext cx="3429000" cy="1691640"/>
          </a:xfrm>
          <a:prstGeom prst="roundRect">
            <a:avLst>
              <a:gd name="adj" fmla="val 7000"/>
            </a:avLst>
          </a:prstGeom>
          <a:solidFill>
            <a:srgbClr val="FDF1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30768" y="4251960"/>
            <a:ext cx="3063240" cy="1417320"/>
          </a:xfrm>
          <a:prstGeom prst="rect">
            <a:avLst/>
          </a:prstGeom>
          <a:noFill/>
        </p:spPr>
        <p:txBody>
          <a:bodyPr wrap="square" anchor="t" lIns="0" rIns="0" tIns="0" bIns="0">
            <a:spAutoFit/>
          </a:bodyPr>
          <a:lstStyle/>
          <a:p>
            <a:pPr algn="l">
              <a:lnSpc>
                <a:spcPct val="118000"/>
              </a:lnSpc>
              <a:spcAft>
                <a:spcPts val="400"/>
              </a:spcAft>
            </a:pPr>
            <a:r>
              <a:rPr sz="1050" b="0" i="0">
                <a:solidFill>
                  <a:srgbClr val="0B0B0B"/>
                </a:solidFill>
                <a:latin typeface="Segoe UI"/>
              </a:rPr>
              <a:t>Memo (not cash): risk-weighted buffer shortfalls ₹4.57M on 99.6 kL (1.2% of buffer volume) — each one batch-economics, verified individually.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02920" y="384048"/>
            <a:ext cx="128016"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C5CAB"/>
                </a:solidFill>
                <a:latin typeface="Segoe UI Semibold"/>
              </a:rPr>
              <a:t>VERIFICATION</a:t>
            </a:r>
          </a:p>
        </p:txBody>
      </p:sp>
      <p:sp>
        <p:nvSpPr>
          <p:cNvPr id="4" name="TextBox 3"/>
          <p:cNvSpPr txBox="1"/>
          <p:nvPr/>
        </p:nvSpPr>
        <p:spPr>
          <a:xfrm>
            <a:off x="777240" y="603504"/>
            <a:ext cx="10881360" cy="566928"/>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We attacked our own answer — ten checks, zero failures</a:t>
            </a:r>
          </a:p>
        </p:txBody>
      </p:sp>
      <p:sp>
        <p:nvSpPr>
          <p:cNvPr id="5" name="Rectangle 4"/>
          <p:cNvSpPr/>
          <p:nvPr/>
        </p:nvSpPr>
        <p:spPr>
          <a:xfrm>
            <a:off x="0" y="6656832"/>
            <a:ext cx="12191695" cy="201168"/>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675120"/>
            <a:ext cx="8229600" cy="182880"/>
          </a:xfrm>
          <a:prstGeom prst="rect">
            <a:avLst/>
          </a:prstGeom>
          <a:noFill/>
        </p:spPr>
        <p:txBody>
          <a:bodyPr wrap="square" anchor="t" lIns="0" rIns="0" tIns="0" bIns="0">
            <a:spAutoFit/>
          </a:bodyPr>
          <a:lstStyle/>
          <a:p>
            <a:pPr algn="l">
              <a:lnSpc>
                <a:spcPct val="100000"/>
              </a:lnSpc>
              <a:spcAft>
                <a:spcPts val="400"/>
              </a:spcAft>
            </a:pPr>
            <a:r>
              <a:rPr sz="800" b="0" i="0">
                <a:solidFill>
                  <a:srgbClr val="CADCFC"/>
                </a:solidFill>
                <a:latin typeface="Segoe UI"/>
              </a:rPr>
              <a:t>Levisol India · Production, Distribution &amp; Inventory Optimisation</a:t>
            </a:r>
          </a:p>
        </p:txBody>
      </p:sp>
      <p:sp>
        <p:nvSpPr>
          <p:cNvPr id="7" name="TextBox 6"/>
          <p:cNvSpPr txBox="1"/>
          <p:nvPr/>
        </p:nvSpPr>
        <p:spPr>
          <a:xfrm>
            <a:off x="11247120" y="6675120"/>
            <a:ext cx="640080" cy="182880"/>
          </a:xfrm>
          <a:prstGeom prst="rect">
            <a:avLst/>
          </a:prstGeom>
          <a:noFill/>
        </p:spPr>
        <p:txBody>
          <a:bodyPr wrap="square" anchor="t" lIns="0" rIns="0" tIns="0" bIns="0">
            <a:spAutoFit/>
          </a:bodyPr>
          <a:lstStyle/>
          <a:p>
            <a:pPr algn="r">
              <a:lnSpc>
                <a:spcPct val="100000"/>
              </a:lnSpc>
              <a:spcAft>
                <a:spcPts val="400"/>
              </a:spcAft>
            </a:pPr>
            <a:r>
              <a:rPr sz="800" b="0" i="0">
                <a:solidFill>
                  <a:srgbClr val="CADCFC"/>
                </a:solidFill>
                <a:latin typeface="Segoe UI"/>
              </a:rPr>
              <a:t>15</a:t>
            </a:r>
          </a:p>
        </p:txBody>
      </p:sp>
      <p:graphicFrame>
        <p:nvGraphicFramePr>
          <p:cNvPr id="8" name="Table 7"/>
          <p:cNvGraphicFramePr>
            <a:graphicFrameLocks noGrp="1"/>
          </p:cNvGraphicFramePr>
          <p:nvPr/>
        </p:nvGraphicFramePr>
        <p:xfrm>
          <a:off x="640080" y="1691640"/>
          <a:ext cx="10972797" cy="3721608"/>
        </p:xfrm>
        <a:graphic>
          <a:graphicData uri="http://schemas.openxmlformats.org/drawingml/2006/table">
            <a:tbl>
              <a:tblPr firstRow="0" bandRow="0">
                <a:tableStyleId>{5C22544A-7EE6-4342-B048-85BDC9FD1C3A}</a:tableStyleId>
              </a:tblPr>
              <a:tblGrid>
                <a:gridCol w="2151529"/>
                <a:gridCol w="3872752"/>
                <a:gridCol w="3872752"/>
                <a:gridCol w="1075764"/>
              </a:tblGrid>
              <a:tr h="338328">
                <a:tc>
                  <a:txBody>
                    <a:bodyPr wrap="square"/>
                    <a:lstStyle/>
                    <a:p>
                      <a:pPr algn="l"/>
                      <a:r>
                        <a:rPr sz="1050" b="1">
                          <a:solidFill>
                            <a:srgbClr val="FFFFFF"/>
                          </a:solidFill>
                          <a:latin typeface="Segoe UI Semibold"/>
                        </a:rPr>
                        <a:t>Check</a:t>
                      </a:r>
                    </a:p>
                  </a:txBody>
                  <a:tcPr marT="25400" marB="25400">
                    <a:solidFill>
                      <a:srgbClr val="0D366B"/>
                    </a:solidFill>
                  </a:tcPr>
                </a:tc>
                <a:tc>
                  <a:txBody>
                    <a:bodyPr wrap="square"/>
                    <a:lstStyle/>
                    <a:p>
                      <a:pPr algn="r"/>
                      <a:r>
                        <a:rPr sz="1050" b="1">
                          <a:solidFill>
                            <a:srgbClr val="FFFFFF"/>
                          </a:solidFill>
                          <a:latin typeface="Segoe UI Semibold"/>
                        </a:rPr>
                        <a:t>Requirement</a:t>
                      </a:r>
                    </a:p>
                  </a:txBody>
                  <a:tcPr marT="25400" marB="25400">
                    <a:solidFill>
                      <a:srgbClr val="0D366B"/>
                    </a:solidFill>
                  </a:tcPr>
                </a:tc>
                <a:tc>
                  <a:txBody>
                    <a:bodyPr wrap="square"/>
                    <a:lstStyle/>
                    <a:p>
                      <a:pPr algn="r"/>
                      <a:r>
                        <a:rPr sz="1050" b="1">
                          <a:solidFill>
                            <a:srgbClr val="FFFFFF"/>
                          </a:solidFill>
                          <a:latin typeface="Segoe UI Semibold"/>
                        </a:rPr>
                        <a:t>Result</a:t>
                      </a:r>
                    </a:p>
                  </a:txBody>
                  <a:tcPr marT="25400" marB="25400">
                    <a:solidFill>
                      <a:srgbClr val="0D366B"/>
                    </a:solidFill>
                  </a:tcPr>
                </a:tc>
                <a:tc>
                  <a:txBody>
                    <a:bodyPr wrap="square"/>
                    <a:lstStyle/>
                    <a:p>
                      <a:pPr algn="r"/>
                      <a:r>
                        <a:rPr sz="1050" b="1">
                          <a:solidFill>
                            <a:srgbClr val="FFFFFF"/>
                          </a:solidFill>
                          <a:latin typeface="Segoe UI Semibold"/>
                        </a:rPr>
                        <a:t>Status</a:t>
                      </a:r>
                    </a:p>
                  </a:txBody>
                  <a:tcPr marT="25400" marB="25400">
                    <a:solidFill>
                      <a:srgbClr val="0D366B"/>
                    </a:solidFill>
                  </a:tcPr>
                </a:tc>
              </a:tr>
              <a:tr h="338328">
                <a:tc>
                  <a:txBody>
                    <a:bodyPr wrap="square"/>
                    <a:lstStyle/>
                    <a:p>
                      <a:pPr algn="l"/>
                      <a:r>
                        <a:rPr sz="1050">
                          <a:solidFill>
                            <a:srgbClr val="0B0B0B"/>
                          </a:solidFill>
                          <a:latin typeface="Segoe UI"/>
                        </a:rPr>
                        <a:t>Batch size</a:t>
                      </a:r>
                    </a:p>
                  </a:txBody>
                  <a:tcPr marT="25400" marB="25400">
                    <a:solidFill>
                      <a:srgbClr val="FCFCFB"/>
                    </a:solidFill>
                  </a:tcPr>
                </a:tc>
                <a:tc>
                  <a:txBody>
                    <a:bodyPr wrap="square"/>
                    <a:lstStyle/>
                    <a:p>
                      <a:pPr algn="r"/>
                      <a:r>
                        <a:rPr sz="1050">
                          <a:solidFill>
                            <a:srgbClr val="0B0B0B"/>
                          </a:solidFill>
                          <a:latin typeface="Segoe UI"/>
                        </a:rPr>
                        <a:t>all production in 25 kL multiples</a:t>
                      </a:r>
                    </a:p>
                  </a:txBody>
                  <a:tcPr marT="25400" marB="25400">
                    <a:solidFill>
                      <a:srgbClr val="FCFCFB"/>
                    </a:solidFill>
                  </a:tcPr>
                </a:tc>
                <a:tc>
                  <a:txBody>
                    <a:bodyPr wrap="square"/>
                    <a:lstStyle/>
                    <a:p>
                      <a:pPr algn="r"/>
                      <a:r>
                        <a:rPr sz="1050">
                          <a:solidFill>
                            <a:srgbClr val="0B0B0B"/>
                          </a:solidFill>
                          <a:latin typeface="Segoe UI"/>
                        </a:rPr>
                        <a:t>309 batches, 0 violations</a:t>
                      </a:r>
                    </a:p>
                  </a:txBody>
                  <a:tcPr marT="25400" marB="25400">
                    <a:solidFill>
                      <a:srgbClr val="FCFCFB"/>
                    </a:solidFill>
                  </a:tcPr>
                </a:tc>
                <a:tc>
                  <a:txBody>
                    <a:bodyPr wrap="square"/>
                    <a:lstStyle/>
                    <a:p>
                      <a:pPr algn="r"/>
                      <a:r>
                        <a:rPr sz="1050" b="1">
                          <a:solidFill>
                            <a:srgbClr val="0B0B0B"/>
                          </a:solidFill>
                          <a:latin typeface="Segoe UI"/>
                        </a:rPr>
                        <a:t>PASS</a:t>
                      </a:r>
                    </a:p>
                  </a:txBody>
                  <a:tcPr marT="25400" marB="25400">
                    <a:solidFill>
                      <a:srgbClr val="FCFCFB"/>
                    </a:solidFill>
                  </a:tcPr>
                </a:tc>
              </a:tr>
              <a:tr h="338328">
                <a:tc>
                  <a:txBody>
                    <a:bodyPr wrap="square"/>
                    <a:lstStyle/>
                    <a:p>
                      <a:pPr algn="l"/>
                      <a:r>
                        <a:rPr sz="1050">
                          <a:solidFill>
                            <a:srgbClr val="0B0B0B"/>
                          </a:solidFill>
                          <a:latin typeface="Segoe UI"/>
                        </a:rPr>
                        <a:t>Line capacity</a:t>
                      </a:r>
                    </a:p>
                  </a:txBody>
                  <a:tcPr marT="25400" marB="25400">
                    <a:solidFill>
                      <a:srgbClr val="F0F4FA"/>
                    </a:solidFill>
                  </a:tcPr>
                </a:tc>
                <a:tc>
                  <a:txBody>
                    <a:bodyPr wrap="square"/>
                    <a:lstStyle/>
                    <a:p>
                      <a:pPr algn="r"/>
                      <a:r>
                        <a:rPr sz="1050">
                          <a:solidFill>
                            <a:srgbClr val="0B0B0B"/>
                          </a:solidFill>
                          <a:latin typeface="Segoe UI"/>
                        </a:rPr>
                        <a:t>≤ Exhibit A per plant × line</a:t>
                      </a:r>
                    </a:p>
                  </a:txBody>
                  <a:tcPr marT="25400" marB="25400">
                    <a:solidFill>
                      <a:srgbClr val="F0F4FA"/>
                    </a:solidFill>
                  </a:tcPr>
                </a:tc>
                <a:tc>
                  <a:txBody>
                    <a:bodyPr wrap="square"/>
                    <a:lstStyle/>
                    <a:p>
                      <a:pPr algn="r"/>
                      <a:r>
                        <a:rPr sz="1050">
                          <a:solidFill>
                            <a:srgbClr val="0B0B0B"/>
                          </a:solidFill>
                          <a:latin typeface="Segoe UI"/>
                        </a:rPr>
                        <a:t>max 100.0%, 0 violations</a:t>
                      </a:r>
                    </a:p>
                  </a:txBody>
                  <a:tcPr marT="25400" marB="25400">
                    <a:solidFill>
                      <a:srgbClr val="F0F4FA"/>
                    </a:solidFill>
                  </a:tcPr>
                </a:tc>
                <a:tc>
                  <a:txBody>
                    <a:bodyPr wrap="square"/>
                    <a:lstStyle/>
                    <a:p>
                      <a:pPr algn="r"/>
                      <a:r>
                        <a:rPr sz="1050" b="1">
                          <a:solidFill>
                            <a:srgbClr val="0B0B0B"/>
                          </a:solidFill>
                          <a:latin typeface="Segoe UI"/>
                        </a:rPr>
                        <a:t>PASS</a:t>
                      </a:r>
                    </a:p>
                  </a:txBody>
                  <a:tcPr marT="25400" marB="25400">
                    <a:solidFill>
                      <a:srgbClr val="F0F4FA"/>
                    </a:solidFill>
                  </a:tcPr>
                </a:tc>
              </a:tr>
              <a:tr h="338328">
                <a:tc>
                  <a:txBody>
                    <a:bodyPr wrap="square"/>
                    <a:lstStyle/>
                    <a:p>
                      <a:pPr algn="l"/>
                      <a:r>
                        <a:rPr sz="1050">
                          <a:solidFill>
                            <a:srgbClr val="0B0B0B"/>
                          </a:solidFill>
                          <a:latin typeface="Segoe UI"/>
                        </a:rPr>
                        <a:t>Mass balance</a:t>
                      </a:r>
                    </a:p>
                  </a:txBody>
                  <a:tcPr marT="25400" marB="25400">
                    <a:solidFill>
                      <a:srgbClr val="FCFCFB"/>
                    </a:solidFill>
                  </a:tcPr>
                </a:tc>
                <a:tc>
                  <a:txBody>
                    <a:bodyPr wrap="square"/>
                    <a:lstStyle/>
                    <a:p>
                      <a:pPr algn="r"/>
                      <a:r>
                        <a:rPr sz="1050">
                          <a:solidFill>
                            <a:srgbClr val="0B0B0B"/>
                          </a:solidFill>
                          <a:latin typeface="Segoe UI"/>
                        </a:rPr>
                        <a:t>plants, hubs, CFAs reconcile</a:t>
                      </a:r>
                    </a:p>
                  </a:txBody>
                  <a:tcPr marT="25400" marB="25400">
                    <a:solidFill>
                      <a:srgbClr val="FCFCFB"/>
                    </a:solidFill>
                  </a:tcPr>
                </a:tc>
                <a:tc>
                  <a:txBody>
                    <a:bodyPr wrap="square"/>
                    <a:lstStyle/>
                    <a:p>
                      <a:pPr algn="r"/>
                      <a:r>
                        <a:rPr sz="1050">
                          <a:solidFill>
                            <a:srgbClr val="0B0B0B"/>
                          </a:solidFill>
                          <a:latin typeface="Segoe UI"/>
                        </a:rPr>
                        <a:t>exact (≤1e-4 kL)</a:t>
                      </a:r>
                    </a:p>
                  </a:txBody>
                  <a:tcPr marT="25400" marB="25400">
                    <a:solidFill>
                      <a:srgbClr val="FCFCFB"/>
                    </a:solidFill>
                  </a:tcPr>
                </a:tc>
                <a:tc>
                  <a:txBody>
                    <a:bodyPr wrap="square"/>
                    <a:lstStyle/>
                    <a:p>
                      <a:pPr algn="r"/>
                      <a:r>
                        <a:rPr sz="1050" b="1">
                          <a:solidFill>
                            <a:srgbClr val="0B0B0B"/>
                          </a:solidFill>
                          <a:latin typeface="Segoe UI"/>
                        </a:rPr>
                        <a:t>PASS</a:t>
                      </a:r>
                    </a:p>
                  </a:txBody>
                  <a:tcPr marT="25400" marB="25400">
                    <a:solidFill>
                      <a:srgbClr val="FCFCFB"/>
                    </a:solidFill>
                  </a:tcPr>
                </a:tc>
              </a:tr>
              <a:tr h="338328">
                <a:tc>
                  <a:txBody>
                    <a:bodyPr wrap="square"/>
                    <a:lstStyle/>
                    <a:p>
                      <a:pPr algn="l"/>
                      <a:r>
                        <a:rPr sz="1050">
                          <a:solidFill>
                            <a:srgbClr val="0B0B0B"/>
                          </a:solidFill>
                          <a:latin typeface="Segoe UI"/>
                        </a:rPr>
                        <a:t>Demand service</a:t>
                      </a:r>
                    </a:p>
                  </a:txBody>
                  <a:tcPr marT="25400" marB="25400">
                    <a:solidFill>
                      <a:srgbClr val="F0F4FA"/>
                    </a:solidFill>
                  </a:tcPr>
                </a:tc>
                <a:tc>
                  <a:txBody>
                    <a:bodyPr wrap="square"/>
                    <a:lstStyle/>
                    <a:p>
                      <a:pPr algn="r"/>
                      <a:r>
                        <a:rPr sz="1050">
                          <a:solidFill>
                            <a:srgbClr val="0B0B0B"/>
                          </a:solidFill>
                          <a:latin typeface="Segoe UI"/>
                        </a:rPr>
                        <a:t>serve Jan forecast net of opening</a:t>
                      </a:r>
                    </a:p>
                  </a:txBody>
                  <a:tcPr marT="25400" marB="25400">
                    <a:solidFill>
                      <a:srgbClr val="F0F4FA"/>
                    </a:solidFill>
                  </a:tcPr>
                </a:tc>
                <a:tc>
                  <a:txBody>
                    <a:bodyPr wrap="square"/>
                    <a:lstStyle/>
                    <a:p>
                      <a:pPr algn="r"/>
                      <a:r>
                        <a:rPr sz="1050">
                          <a:solidFill>
                            <a:srgbClr val="0B0B0B"/>
                          </a:solidFill>
                          <a:latin typeface="Segoe UI"/>
                        </a:rPr>
                        <a:t>0 kL unmet</a:t>
                      </a:r>
                    </a:p>
                  </a:txBody>
                  <a:tcPr marT="25400" marB="25400">
                    <a:solidFill>
                      <a:srgbClr val="F0F4FA"/>
                    </a:solidFill>
                  </a:tcPr>
                </a:tc>
                <a:tc>
                  <a:txBody>
                    <a:bodyPr wrap="square"/>
                    <a:lstStyle/>
                    <a:p>
                      <a:pPr algn="r"/>
                      <a:r>
                        <a:rPr sz="1050" b="1">
                          <a:solidFill>
                            <a:srgbClr val="0B0B0B"/>
                          </a:solidFill>
                          <a:latin typeface="Segoe UI"/>
                        </a:rPr>
                        <a:t>PASS</a:t>
                      </a:r>
                    </a:p>
                  </a:txBody>
                  <a:tcPr marT="25400" marB="25400">
                    <a:solidFill>
                      <a:srgbClr val="F0F4FA"/>
                    </a:solidFill>
                  </a:tcPr>
                </a:tc>
              </a:tr>
              <a:tr h="338328">
                <a:tc>
                  <a:txBody>
                    <a:bodyPr wrap="square"/>
                    <a:lstStyle/>
                    <a:p>
                      <a:pPr algn="l"/>
                      <a:r>
                        <a:rPr sz="1050">
                          <a:solidFill>
                            <a:srgbClr val="0B0B0B"/>
                          </a:solidFill>
                          <a:latin typeface="Segoe UI"/>
                        </a:rPr>
                        <a:t>Hub 98% buffers</a:t>
                      </a:r>
                    </a:p>
                  </a:txBody>
                  <a:tcPr marT="25400" marB="25400">
                    <a:solidFill>
                      <a:srgbClr val="FCFCFB"/>
                    </a:solidFill>
                  </a:tcPr>
                </a:tc>
                <a:tc>
                  <a:txBody>
                    <a:bodyPr wrap="square"/>
                    <a:lstStyle/>
                    <a:p>
                      <a:pPr algn="r"/>
                      <a:r>
                        <a:rPr sz="1050">
                          <a:solidFill>
                            <a:srgbClr val="0B0B0B"/>
                          </a:solidFill>
                          <a:latin typeface="Segoe UI"/>
                        </a:rPr>
                        <a:t>close month ≥ hub SS</a:t>
                      </a:r>
                    </a:p>
                  </a:txBody>
                  <a:tcPr marT="25400" marB="25400">
                    <a:solidFill>
                      <a:srgbClr val="FCFCFB"/>
                    </a:solidFill>
                  </a:tcPr>
                </a:tc>
                <a:tc>
                  <a:txBody>
                    <a:bodyPr wrap="square"/>
                    <a:lstStyle/>
                    <a:p>
                      <a:pPr algn="r"/>
                      <a:r>
                        <a:rPr sz="1050">
                          <a:solidFill>
                            <a:srgbClr val="0B0B0B"/>
                          </a:solidFill>
                          <a:latin typeface="Segoe UI"/>
                        </a:rPr>
                        <a:t>138/151 met; 31.5 kL costed &amp; listed</a:t>
                      </a:r>
                    </a:p>
                  </a:txBody>
                  <a:tcPr marT="25400" marB="25400">
                    <a:solidFill>
                      <a:srgbClr val="FCFCFB"/>
                    </a:solidFill>
                  </a:tcPr>
                </a:tc>
                <a:tc>
                  <a:txBody>
                    <a:bodyPr wrap="square"/>
                    <a:lstStyle/>
                    <a:p>
                      <a:pPr algn="r"/>
                      <a:r>
                        <a:rPr sz="1050" b="1">
                          <a:solidFill>
                            <a:srgbClr val="0B0B0B"/>
                          </a:solidFill>
                          <a:latin typeface="Segoe UI"/>
                        </a:rPr>
                        <a:t>PASS*</a:t>
                      </a:r>
                    </a:p>
                  </a:txBody>
                  <a:tcPr marT="25400" marB="25400">
                    <a:solidFill>
                      <a:srgbClr val="FCFCFB"/>
                    </a:solidFill>
                  </a:tcPr>
                </a:tc>
              </a:tr>
              <a:tr h="338328">
                <a:tc>
                  <a:txBody>
                    <a:bodyPr wrap="square"/>
                    <a:lstStyle/>
                    <a:p>
                      <a:pPr algn="l"/>
                      <a:r>
                        <a:rPr sz="1050">
                          <a:solidFill>
                            <a:srgbClr val="0B0B0B"/>
                          </a:solidFill>
                          <a:latin typeface="Segoe UI"/>
                        </a:rPr>
                        <a:t>Contractual SKUs</a:t>
                      </a:r>
                    </a:p>
                  </a:txBody>
                  <a:tcPr marT="25400" marB="25400">
                    <a:solidFill>
                      <a:srgbClr val="F0F4FA"/>
                    </a:solidFill>
                  </a:tcPr>
                </a:tc>
                <a:tc>
                  <a:txBody>
                    <a:bodyPr wrap="square"/>
                    <a:lstStyle/>
                    <a:p>
                      <a:pPr algn="r"/>
                      <a:r>
                        <a:rPr sz="1050">
                          <a:solidFill>
                            <a:srgbClr val="0B0B0B"/>
                          </a:solidFill>
                          <a:latin typeface="Segoe UI"/>
                        </a:rPr>
                        <a:t>protected first (3× weight)</a:t>
                      </a:r>
                    </a:p>
                  </a:txBody>
                  <a:tcPr marT="25400" marB="25400">
                    <a:solidFill>
                      <a:srgbClr val="F0F4FA"/>
                    </a:solidFill>
                  </a:tcPr>
                </a:tc>
                <a:tc>
                  <a:txBody>
                    <a:bodyPr wrap="square"/>
                    <a:lstStyle/>
                    <a:p>
                      <a:pPr algn="r"/>
                      <a:r>
                        <a:rPr sz="1050">
                          <a:solidFill>
                            <a:srgbClr val="0B0B0B"/>
                          </a:solidFill>
                          <a:latin typeface="Segoe UI"/>
                        </a:rPr>
                        <a:t>zero contractual shortfall</a:t>
                      </a:r>
                    </a:p>
                  </a:txBody>
                  <a:tcPr marT="25400" marB="25400">
                    <a:solidFill>
                      <a:srgbClr val="F0F4FA"/>
                    </a:solidFill>
                  </a:tcPr>
                </a:tc>
                <a:tc>
                  <a:txBody>
                    <a:bodyPr wrap="square"/>
                    <a:lstStyle/>
                    <a:p>
                      <a:pPr algn="r"/>
                      <a:r>
                        <a:rPr sz="1050" b="1">
                          <a:solidFill>
                            <a:srgbClr val="0B0B0B"/>
                          </a:solidFill>
                          <a:latin typeface="Segoe UI"/>
                        </a:rPr>
                        <a:t>PASS</a:t>
                      </a:r>
                    </a:p>
                  </a:txBody>
                  <a:tcPr marT="25400" marB="25400">
                    <a:solidFill>
                      <a:srgbClr val="F0F4FA"/>
                    </a:solidFill>
                  </a:tcPr>
                </a:tc>
              </a:tr>
              <a:tr h="338328">
                <a:tc>
                  <a:txBody>
                    <a:bodyPr wrap="square"/>
                    <a:lstStyle/>
                    <a:p>
                      <a:pPr algn="l"/>
                      <a:r>
                        <a:rPr sz="1050">
                          <a:solidFill>
                            <a:srgbClr val="0B0B0B"/>
                          </a:solidFill>
                          <a:latin typeface="Segoe UI"/>
                        </a:rPr>
                        <a:t>Norms recompute</a:t>
                      </a:r>
                    </a:p>
                  </a:txBody>
                  <a:tcPr marT="25400" marB="25400">
                    <a:solidFill>
                      <a:srgbClr val="FCFCFB"/>
                    </a:solidFill>
                  </a:tcPr>
                </a:tc>
                <a:tc>
                  <a:txBody>
                    <a:bodyPr wrap="square"/>
                    <a:lstStyle/>
                    <a:p>
                      <a:pPr algn="r"/>
                      <a:r>
                        <a:rPr sz="1050">
                          <a:solidFill>
                            <a:srgbClr val="0B0B0B"/>
                          </a:solidFill>
                          <a:latin typeface="Segoe UI"/>
                        </a:rPr>
                        <a:t>independent fresh-code path</a:t>
                      </a:r>
                    </a:p>
                  </a:txBody>
                  <a:tcPr marT="25400" marB="25400">
                    <a:solidFill>
                      <a:srgbClr val="FCFCFB"/>
                    </a:solidFill>
                  </a:tcPr>
                </a:tc>
                <a:tc>
                  <a:txBody>
                    <a:bodyPr wrap="square"/>
                    <a:lstStyle/>
                    <a:p>
                      <a:pPr algn="r"/>
                      <a:r>
                        <a:rPr sz="1050">
                          <a:solidFill>
                            <a:srgbClr val="0B0B0B"/>
                          </a:solidFill>
                          <a:latin typeface="Segoe UI"/>
                        </a:rPr>
                        <a:t>max deviation 1.4×10⁻¹⁴ kL</a:t>
                      </a:r>
                    </a:p>
                  </a:txBody>
                  <a:tcPr marT="25400" marB="25400">
                    <a:solidFill>
                      <a:srgbClr val="FCFCFB"/>
                    </a:solidFill>
                  </a:tcPr>
                </a:tc>
                <a:tc>
                  <a:txBody>
                    <a:bodyPr wrap="square"/>
                    <a:lstStyle/>
                    <a:p>
                      <a:pPr algn="r"/>
                      <a:r>
                        <a:rPr sz="1050" b="1">
                          <a:solidFill>
                            <a:srgbClr val="0B0B0B"/>
                          </a:solidFill>
                          <a:latin typeface="Segoe UI"/>
                        </a:rPr>
                        <a:t>PASS</a:t>
                      </a:r>
                    </a:p>
                  </a:txBody>
                  <a:tcPr marT="25400" marB="25400">
                    <a:solidFill>
                      <a:srgbClr val="FCFCFB"/>
                    </a:solidFill>
                  </a:tcPr>
                </a:tc>
              </a:tr>
              <a:tr h="338328">
                <a:tc>
                  <a:txBody>
                    <a:bodyPr wrap="square"/>
                    <a:lstStyle/>
                    <a:p>
                      <a:pPr algn="l"/>
                      <a:r>
                        <a:rPr sz="1050">
                          <a:solidFill>
                            <a:srgbClr val="0B0B0B"/>
                          </a:solidFill>
                          <a:latin typeface="Segoe UI"/>
                        </a:rPr>
                        <a:t>Cost arithmetic</a:t>
                      </a:r>
                    </a:p>
                  </a:txBody>
                  <a:tcPr marT="25400" marB="25400">
                    <a:solidFill>
                      <a:srgbClr val="F0F4FA"/>
                    </a:solidFill>
                  </a:tcPr>
                </a:tc>
                <a:tc>
                  <a:txBody>
                    <a:bodyPr wrap="square"/>
                    <a:lstStyle/>
                    <a:p>
                      <a:pPr algn="r"/>
                      <a:r>
                        <a:rPr sz="1050">
                          <a:solidFill>
                            <a:srgbClr val="0B0B0B"/>
                          </a:solidFill>
                          <a:latin typeface="Segoe UI"/>
                        </a:rPr>
                        <a:t>recompute all components</a:t>
                      </a:r>
                    </a:p>
                  </a:txBody>
                  <a:tcPr marT="25400" marB="25400">
                    <a:solidFill>
                      <a:srgbClr val="F0F4FA"/>
                    </a:solidFill>
                  </a:tcPr>
                </a:tc>
                <a:tc>
                  <a:txBody>
                    <a:bodyPr wrap="square"/>
                    <a:lstStyle/>
                    <a:p>
                      <a:pPr algn="r"/>
                      <a:r>
                        <a:rPr sz="1050">
                          <a:solidFill>
                            <a:srgbClr val="0B0B0B"/>
                          </a:solidFill>
                          <a:latin typeface="Segoe UI"/>
                        </a:rPr>
                        <a:t>&lt; 10⁻⁶ relative error</a:t>
                      </a:r>
                    </a:p>
                  </a:txBody>
                  <a:tcPr marT="25400" marB="25400">
                    <a:solidFill>
                      <a:srgbClr val="F0F4FA"/>
                    </a:solidFill>
                  </a:tcPr>
                </a:tc>
                <a:tc>
                  <a:txBody>
                    <a:bodyPr wrap="square"/>
                    <a:lstStyle/>
                    <a:p>
                      <a:pPr algn="r"/>
                      <a:r>
                        <a:rPr sz="1050" b="1">
                          <a:solidFill>
                            <a:srgbClr val="0B0B0B"/>
                          </a:solidFill>
                          <a:latin typeface="Segoe UI"/>
                        </a:rPr>
                        <a:t>PASS</a:t>
                      </a:r>
                    </a:p>
                  </a:txBody>
                  <a:tcPr marT="25400" marB="25400">
                    <a:solidFill>
                      <a:srgbClr val="F0F4FA"/>
                    </a:solidFill>
                  </a:tcPr>
                </a:tc>
              </a:tr>
              <a:tr h="338328">
                <a:tc>
                  <a:txBody>
                    <a:bodyPr wrap="square"/>
                    <a:lstStyle/>
                    <a:p>
                      <a:pPr algn="l"/>
                      <a:r>
                        <a:rPr sz="1050">
                          <a:solidFill>
                            <a:srgbClr val="0B0B0B"/>
                          </a:solidFill>
                          <a:latin typeface="Segoe UI"/>
                        </a:rPr>
                        <a:t>Optimality</a:t>
                      </a:r>
                    </a:p>
                  </a:txBody>
                  <a:tcPr marT="25400" marB="25400">
                    <a:solidFill>
                      <a:srgbClr val="FCFCFB"/>
                    </a:solidFill>
                  </a:tcPr>
                </a:tc>
                <a:tc>
                  <a:txBody>
                    <a:bodyPr wrap="square"/>
                    <a:lstStyle/>
                    <a:p>
                      <a:pPr algn="r"/>
                      <a:r>
                        <a:rPr sz="1050">
                          <a:solidFill>
                            <a:srgbClr val="0B0B0B"/>
                          </a:solidFill>
                          <a:latin typeface="Segoe UI"/>
                        </a:rPr>
                        <a:t>no cheaper feasible plan</a:t>
                      </a:r>
                    </a:p>
                  </a:txBody>
                  <a:tcPr marT="25400" marB="25400">
                    <a:solidFill>
                      <a:srgbClr val="FCFCFB"/>
                    </a:solidFill>
                  </a:tcPr>
                </a:tc>
                <a:tc>
                  <a:txBody>
                    <a:bodyPr wrap="square"/>
                    <a:lstStyle/>
                    <a:p>
                      <a:pPr algn="r"/>
                      <a:r>
                        <a:rPr sz="1050">
                          <a:solidFill>
                            <a:srgbClr val="0B0B0B"/>
                          </a:solidFill>
                          <a:latin typeface="Segoe UI"/>
                        </a:rPr>
                        <a:t>gap 0.0 + LP bound + cross-solve</a:t>
                      </a:r>
                    </a:p>
                  </a:txBody>
                  <a:tcPr marT="25400" marB="25400">
                    <a:solidFill>
                      <a:srgbClr val="FCFCFB"/>
                    </a:solidFill>
                  </a:tcPr>
                </a:tc>
                <a:tc>
                  <a:txBody>
                    <a:bodyPr wrap="square"/>
                    <a:lstStyle/>
                    <a:p>
                      <a:pPr algn="r"/>
                      <a:r>
                        <a:rPr sz="1050" b="1">
                          <a:solidFill>
                            <a:srgbClr val="0B0B0B"/>
                          </a:solidFill>
                          <a:latin typeface="Segoe UI"/>
                        </a:rPr>
                        <a:t>PASS</a:t>
                      </a:r>
                    </a:p>
                  </a:txBody>
                  <a:tcPr marT="25400" marB="25400">
                    <a:solidFill>
                      <a:srgbClr val="FCFCFB"/>
                    </a:solidFill>
                  </a:tcPr>
                </a:tc>
              </a:tr>
              <a:tr h="338328">
                <a:tc>
                  <a:txBody>
                    <a:bodyPr wrap="square"/>
                    <a:lstStyle/>
                    <a:p>
                      <a:pPr algn="l"/>
                      <a:r>
                        <a:rPr sz="1050">
                          <a:solidFill>
                            <a:srgbClr val="0B0B0B"/>
                          </a:solidFill>
                          <a:latin typeface="Segoe UI"/>
                        </a:rPr>
                        <a:t>Tool robustness</a:t>
                      </a:r>
                    </a:p>
                  </a:txBody>
                  <a:tcPr marT="25400" marB="25400">
                    <a:solidFill>
                      <a:srgbClr val="F0F4FA"/>
                    </a:solidFill>
                  </a:tcPr>
                </a:tc>
                <a:tc>
                  <a:txBody>
                    <a:bodyPr wrap="square"/>
                    <a:lstStyle/>
                    <a:p>
                      <a:pPr algn="r"/>
                      <a:r>
                        <a:rPr sz="1050">
                          <a:solidFill>
                            <a:srgbClr val="0B0B0B"/>
                          </a:solidFill>
                          <a:latin typeface="Segoe UI"/>
                        </a:rPr>
                        <a:t>modified inputs, no crash</a:t>
                      </a:r>
                    </a:p>
                  </a:txBody>
                  <a:tcPr marT="25400" marB="25400">
                    <a:solidFill>
                      <a:srgbClr val="F0F4FA"/>
                    </a:solidFill>
                  </a:tcPr>
                </a:tc>
                <a:tc>
                  <a:txBody>
                    <a:bodyPr wrap="square"/>
                    <a:lstStyle/>
                    <a:p>
                      <a:pPr algn="r"/>
                      <a:r>
                        <a:rPr sz="1050">
                          <a:solidFill>
                            <a:srgbClr val="0B0B0B"/>
                          </a:solidFill>
                          <a:latin typeface="Segoe UI"/>
                        </a:rPr>
                        <a:t>3 scenarios end-to-end</a:t>
                      </a:r>
                    </a:p>
                  </a:txBody>
                  <a:tcPr marT="25400" marB="25400">
                    <a:solidFill>
                      <a:srgbClr val="F0F4FA"/>
                    </a:solidFill>
                  </a:tcPr>
                </a:tc>
                <a:tc>
                  <a:txBody>
                    <a:bodyPr wrap="square"/>
                    <a:lstStyle/>
                    <a:p>
                      <a:pPr algn="r"/>
                      <a:r>
                        <a:rPr sz="1050" b="1">
                          <a:solidFill>
                            <a:srgbClr val="0B0B0B"/>
                          </a:solidFill>
                          <a:latin typeface="Segoe UI"/>
                        </a:rPr>
                        <a:t>PASS</a:t>
                      </a:r>
                    </a:p>
                  </a:txBody>
                  <a:tcPr marT="25400" marB="25400">
                    <a:solidFill>
                      <a:srgbClr val="F0F4FA"/>
                    </a:solidFill>
                  </a:tcPr>
                </a:tc>
              </a:tr>
            </a:tbl>
          </a:graphicData>
        </a:graphic>
      </p:graphicFrame>
      <p:sp>
        <p:nvSpPr>
          <p:cNvPr id="9" name="TextBox 8"/>
          <p:cNvSpPr txBox="1"/>
          <p:nvPr/>
        </p:nvSpPr>
        <p:spPr>
          <a:xfrm>
            <a:off x="640080" y="5989320"/>
            <a:ext cx="10058400" cy="365760"/>
          </a:xfrm>
          <a:prstGeom prst="rect">
            <a:avLst/>
          </a:prstGeom>
          <a:noFill/>
        </p:spPr>
        <p:txBody>
          <a:bodyPr wrap="square" anchor="t" lIns="0" rIns="0" tIns="0" bIns="0">
            <a:spAutoFit/>
          </a:bodyPr>
          <a:lstStyle/>
          <a:p>
            <a:pPr algn="l">
              <a:lnSpc>
                <a:spcPct val="100000"/>
              </a:lnSpc>
              <a:spcAft>
                <a:spcPts val="400"/>
              </a:spcAft>
            </a:pPr>
            <a:r>
              <a:rPr sz="950" b="0" i="1">
                <a:solidFill>
                  <a:srgbClr val="898781"/>
                </a:solidFill>
                <a:latin typeface="Segoe UI"/>
              </a:rPr>
              <a:t>* soft by design — the case asks for shortfalls to be reported with cost; the Exceptions sheet does, line by line.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02920" y="384048"/>
            <a:ext cx="128016"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C5CAB"/>
                </a:solidFill>
                <a:latin typeface="Segoe UI Semibold"/>
              </a:rPr>
              <a:t>ASSESSMENT-DAY READINESS</a:t>
            </a:r>
          </a:p>
        </p:txBody>
      </p:sp>
      <p:sp>
        <p:nvSpPr>
          <p:cNvPr id="4" name="TextBox 3"/>
          <p:cNvSpPr txBox="1"/>
          <p:nvPr/>
        </p:nvSpPr>
        <p:spPr>
          <a:xfrm>
            <a:off x="777240" y="603504"/>
            <a:ext cx="10881360" cy="566928"/>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Three shocks through the tool: demand is protected first</a:t>
            </a:r>
          </a:p>
        </p:txBody>
      </p:sp>
      <p:sp>
        <p:nvSpPr>
          <p:cNvPr id="5" name="Rectangle 4"/>
          <p:cNvSpPr/>
          <p:nvPr/>
        </p:nvSpPr>
        <p:spPr>
          <a:xfrm>
            <a:off x="0" y="6656832"/>
            <a:ext cx="12191695" cy="201168"/>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675120"/>
            <a:ext cx="8229600" cy="182880"/>
          </a:xfrm>
          <a:prstGeom prst="rect">
            <a:avLst/>
          </a:prstGeom>
          <a:noFill/>
        </p:spPr>
        <p:txBody>
          <a:bodyPr wrap="square" anchor="t" lIns="0" rIns="0" tIns="0" bIns="0">
            <a:spAutoFit/>
          </a:bodyPr>
          <a:lstStyle/>
          <a:p>
            <a:pPr algn="l">
              <a:lnSpc>
                <a:spcPct val="100000"/>
              </a:lnSpc>
              <a:spcAft>
                <a:spcPts val="400"/>
              </a:spcAft>
            </a:pPr>
            <a:r>
              <a:rPr sz="800" b="0" i="0">
                <a:solidFill>
                  <a:srgbClr val="CADCFC"/>
                </a:solidFill>
                <a:latin typeface="Segoe UI"/>
              </a:rPr>
              <a:t>Levisol India · Production, Distribution &amp; Inventory Optimisation</a:t>
            </a:r>
          </a:p>
        </p:txBody>
      </p:sp>
      <p:sp>
        <p:nvSpPr>
          <p:cNvPr id="7" name="TextBox 6"/>
          <p:cNvSpPr txBox="1"/>
          <p:nvPr/>
        </p:nvSpPr>
        <p:spPr>
          <a:xfrm>
            <a:off x="11247120" y="6675120"/>
            <a:ext cx="640080" cy="182880"/>
          </a:xfrm>
          <a:prstGeom prst="rect">
            <a:avLst/>
          </a:prstGeom>
          <a:noFill/>
        </p:spPr>
        <p:txBody>
          <a:bodyPr wrap="square" anchor="t" lIns="0" rIns="0" tIns="0" bIns="0">
            <a:spAutoFit/>
          </a:bodyPr>
          <a:lstStyle/>
          <a:p>
            <a:pPr algn="r">
              <a:lnSpc>
                <a:spcPct val="100000"/>
              </a:lnSpc>
              <a:spcAft>
                <a:spcPts val="400"/>
              </a:spcAft>
            </a:pPr>
            <a:r>
              <a:rPr sz="800" b="0" i="0">
                <a:solidFill>
                  <a:srgbClr val="CADCFC"/>
                </a:solidFill>
                <a:latin typeface="Segoe UI"/>
              </a:rPr>
              <a:t>16</a:t>
            </a:r>
          </a:p>
        </p:txBody>
      </p:sp>
      <p:pic>
        <p:nvPicPr>
          <p:cNvPr id="8" name="Picture 7" descr="08_scenarios.png"/>
          <p:cNvPicPr>
            <a:picLocks noChangeAspect="1"/>
          </p:cNvPicPr>
          <p:nvPr/>
        </p:nvPicPr>
        <p:blipFill>
          <a:blip r:embed="rId3"/>
          <a:stretch>
            <a:fillRect/>
          </a:stretch>
        </p:blipFill>
        <p:spPr>
          <a:xfrm>
            <a:off x="1452513" y="1627632"/>
            <a:ext cx="9302212" cy="3749039"/>
          </a:xfrm>
          <a:prstGeom prst="rect">
            <a:avLst/>
          </a:prstGeom>
        </p:spPr>
      </p:pic>
      <p:graphicFrame>
        <p:nvGraphicFramePr>
          <p:cNvPr id="9" name="Table 8"/>
          <p:cNvGraphicFramePr>
            <a:graphicFrameLocks noGrp="1"/>
          </p:cNvGraphicFramePr>
          <p:nvPr/>
        </p:nvGraphicFramePr>
        <p:xfrm>
          <a:off x="640080" y="5486400"/>
          <a:ext cx="10972800" cy="1060704"/>
        </p:xfrm>
        <a:graphic>
          <a:graphicData uri="http://schemas.openxmlformats.org/drawingml/2006/table">
            <a:tbl>
              <a:tblPr firstRow="0" bandRow="0">
                <a:tableStyleId>{5C22544A-7EE6-4342-B048-85BDC9FD1C3A}</a:tableStyleId>
              </a:tblPr>
              <a:tblGrid>
                <a:gridCol w="822960"/>
                <a:gridCol w="2926080"/>
                <a:gridCol w="7223760"/>
              </a:tblGrid>
              <a:tr h="265176">
                <a:tc>
                  <a:txBody>
                    <a:bodyPr wrap="square"/>
                    <a:lstStyle/>
                    <a:p>
                      <a:pPr algn="l"/>
                      <a:r>
                        <a:rPr sz="1000" b="1">
                          <a:solidFill>
                            <a:srgbClr val="FFFFFF"/>
                          </a:solidFill>
                          <a:latin typeface="Segoe UI Semibold"/>
                        </a:rPr>
                        <a:t>Scenario</a:t>
                      </a:r>
                    </a:p>
                  </a:txBody>
                  <a:tcPr marT="25400" marB="25400">
                    <a:solidFill>
                      <a:srgbClr val="0D366B"/>
                    </a:solidFill>
                  </a:tcPr>
                </a:tc>
                <a:tc>
                  <a:txBody>
                    <a:bodyPr wrap="square"/>
                    <a:lstStyle/>
                    <a:p>
                      <a:pPr algn="r"/>
                      <a:r>
                        <a:rPr sz="1000" b="1">
                          <a:solidFill>
                            <a:srgbClr val="FFFFFF"/>
                          </a:solidFill>
                          <a:latin typeface="Segoe UI Semibold"/>
                        </a:rPr>
                        <a:t>Shock</a:t>
                      </a:r>
                    </a:p>
                  </a:txBody>
                  <a:tcPr marT="25400" marB="25400">
                    <a:solidFill>
                      <a:srgbClr val="0D366B"/>
                    </a:solidFill>
                  </a:tcPr>
                </a:tc>
                <a:tc>
                  <a:txBody>
                    <a:bodyPr wrap="square"/>
                    <a:lstStyle/>
                    <a:p>
                      <a:pPr algn="r"/>
                      <a:r>
                        <a:rPr sz="1000" b="1">
                          <a:solidFill>
                            <a:srgbClr val="FFFFFF"/>
                          </a:solidFill>
                          <a:latin typeface="Segoe UI Semibold"/>
                        </a:rPr>
                        <a:t>Outcome</a:t>
                      </a:r>
                    </a:p>
                  </a:txBody>
                  <a:tcPr marT="25400" marB="25400">
                    <a:solidFill>
                      <a:srgbClr val="0D366B"/>
                    </a:solidFill>
                  </a:tcPr>
                </a:tc>
              </a:tr>
              <a:tr h="265176">
                <a:tc>
                  <a:txBody>
                    <a:bodyPr wrap="square"/>
                    <a:lstStyle/>
                    <a:p>
                      <a:pPr algn="l"/>
                      <a:r>
                        <a:rPr sz="1000">
                          <a:solidFill>
                            <a:srgbClr val="0B0B0B"/>
                          </a:solidFill>
                          <a:latin typeface="Segoe UI"/>
                        </a:rPr>
                        <a:t>S1</a:t>
                      </a:r>
                    </a:p>
                  </a:txBody>
                  <a:tcPr marT="25400" marB="25400">
                    <a:solidFill>
                      <a:srgbClr val="FCFCFB"/>
                    </a:solidFill>
                  </a:tcPr>
                </a:tc>
                <a:tc>
                  <a:txBody>
                    <a:bodyPr wrap="square"/>
                    <a:lstStyle/>
                    <a:p>
                      <a:pPr algn="r"/>
                      <a:r>
                        <a:rPr sz="1000">
                          <a:solidFill>
                            <a:srgbClr val="0B0B0B"/>
                          </a:solidFill>
                          <a:latin typeface="Segoe UI"/>
                        </a:rPr>
                        <a:t>≤1.5LT capacity −1,500 kL</a:t>
                      </a:r>
                    </a:p>
                  </a:txBody>
                  <a:tcPr marT="25400" marB="25400">
                    <a:solidFill>
                      <a:srgbClr val="FCFCFB"/>
                    </a:solidFill>
                  </a:tcPr>
                </a:tc>
                <a:tc>
                  <a:txBody>
                    <a:bodyPr wrap="square"/>
                    <a:lstStyle/>
                    <a:p>
                      <a:pPr algn="r"/>
                      <a:r>
                        <a:rPr sz="1000">
                          <a:solidFill>
                            <a:srgbClr val="0B0B0B"/>
                          </a:solidFill>
                          <a:latin typeface="Segoe UI"/>
                        </a:rPr>
                        <a:t>9.3 kL unmet (lowest-penalty, non-contractual); buffers absorb 488 kL</a:t>
                      </a:r>
                    </a:p>
                  </a:txBody>
                  <a:tcPr marT="25400" marB="25400">
                    <a:solidFill>
                      <a:srgbClr val="FCFCFB"/>
                    </a:solidFill>
                  </a:tcPr>
                </a:tc>
              </a:tr>
              <a:tr h="265176">
                <a:tc>
                  <a:txBody>
                    <a:bodyPr wrap="square"/>
                    <a:lstStyle/>
                    <a:p>
                      <a:pPr algn="l"/>
                      <a:r>
                        <a:rPr sz="1000">
                          <a:solidFill>
                            <a:srgbClr val="0B0B0B"/>
                          </a:solidFill>
                          <a:latin typeface="Segoe UI"/>
                        </a:rPr>
                        <a:t>S2</a:t>
                      </a:r>
                    </a:p>
                  </a:txBody>
                  <a:tcPr marT="25400" marB="25400">
                    <a:solidFill>
                      <a:srgbClr val="F0F4FA"/>
                    </a:solidFill>
                  </a:tcPr>
                </a:tc>
                <a:tc>
                  <a:txBody>
                    <a:bodyPr wrap="square"/>
                    <a:lstStyle/>
                    <a:p>
                      <a:pPr algn="r"/>
                      <a:r>
                        <a:rPr sz="1000">
                          <a:solidFill>
                            <a:srgbClr val="0B0B0B"/>
                          </a:solidFill>
                          <a:latin typeface="Segoe UI"/>
                        </a:rPr>
                        <a:t>all forecasts +40%</a:t>
                      </a:r>
                    </a:p>
                  </a:txBody>
                  <a:tcPr marT="25400" marB="25400">
                    <a:solidFill>
                      <a:srgbClr val="F0F4FA"/>
                    </a:solidFill>
                  </a:tcPr>
                </a:tc>
                <a:tc>
                  <a:txBody>
                    <a:bodyPr wrap="square"/>
                    <a:lstStyle/>
                    <a:p>
                      <a:pPr algn="r"/>
                      <a:r>
                        <a:rPr sz="1000">
                          <a:solidFill>
                            <a:srgbClr val="0B0B0B"/>
                          </a:solidFill>
                          <a:latin typeface="Segoe UI"/>
                        </a:rPr>
                        <a:t>production 10,250 kL; 6.6 kL unmet; graceful ranking</a:t>
                      </a:r>
                    </a:p>
                  </a:txBody>
                  <a:tcPr marT="25400" marB="25400">
                    <a:solidFill>
                      <a:srgbClr val="F0F4FA"/>
                    </a:solidFill>
                  </a:tcPr>
                </a:tc>
              </a:tr>
              <a:tr h="265176">
                <a:tc>
                  <a:txBody>
                    <a:bodyPr wrap="square"/>
                    <a:lstStyle/>
                    <a:p>
                      <a:pPr algn="l"/>
                      <a:r>
                        <a:rPr sz="1000">
                          <a:solidFill>
                            <a:srgbClr val="0B0B0B"/>
                          </a:solidFill>
                          <a:latin typeface="Segoe UI"/>
                        </a:rPr>
                        <a:t>S3</a:t>
                      </a:r>
                    </a:p>
                  </a:txBody>
                  <a:tcPr marT="25400" marB="25400">
                    <a:solidFill>
                      <a:srgbClr val="FCFCFB"/>
                    </a:solidFill>
                  </a:tcPr>
                </a:tc>
                <a:tc>
                  <a:txBody>
                    <a:bodyPr wrap="square"/>
                    <a:lstStyle/>
                    <a:p>
                      <a:pPr algn="r"/>
                      <a:r>
                        <a:rPr sz="1000">
                          <a:solidFill>
                            <a:srgbClr val="0B0B0B"/>
                          </a:solidFill>
                          <a:latin typeface="Segoe UI"/>
                        </a:rPr>
                        <a:t>BOM→MHW freight ×6</a:t>
                      </a:r>
                    </a:p>
                  </a:txBody>
                  <a:tcPr marT="25400" marB="25400">
                    <a:solidFill>
                      <a:srgbClr val="FCFCFB"/>
                    </a:solidFill>
                  </a:tcPr>
                </a:tc>
                <a:tc>
                  <a:txBody>
                    <a:bodyPr wrap="square"/>
                    <a:lstStyle/>
                    <a:p>
                      <a:pPr algn="r"/>
                      <a:r>
                        <a:rPr sz="1000">
                          <a:solidFill>
                            <a:srgbClr val="0B0B0B"/>
                          </a:solidFill>
                          <a:latin typeface="Segoe UI"/>
                        </a:rPr>
                        <a:t>automatic re-routing; zero unmet</a:t>
                      </a:r>
                    </a:p>
                  </a:txBody>
                  <a:tcPr marT="25400" marB="25400">
                    <a:solidFill>
                      <a:srgbClr val="FCFCFB"/>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02920" y="384048"/>
            <a:ext cx="128016"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8813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C5CAB"/>
                </a:solidFill>
                <a:latin typeface="Segoe UI Semibold"/>
              </a:rPr>
              <a:t>COMPONENT 3 · THE TOOL</a:t>
            </a:r>
          </a:p>
        </p:txBody>
      </p:sp>
      <p:sp>
        <p:nvSpPr>
          <p:cNvPr id="4" name="TextBox 3"/>
          <p:cNvSpPr txBox="1"/>
          <p:nvPr/>
        </p:nvSpPr>
        <p:spPr>
          <a:xfrm>
            <a:off x="777240" y="603504"/>
            <a:ext cx="10881360" cy="566928"/>
          </a:xfrm>
          <a:prstGeom prst="rect">
            <a:avLst/>
          </a:prstGeom>
          <a:noFill/>
        </p:spPr>
        <p:txBody>
          <a:bodyPr wrap="square" anchor="t" lIns="0" rIns="0" tIns="0" bIns="0">
            <a:spAutoFit/>
          </a:bodyPr>
          <a:lstStyle/>
          <a:p>
            <a:pPr algn="l">
              <a:lnSpc>
                <a:spcPct val="100000"/>
              </a:lnSpc>
              <a:spcAft>
                <a:spcPts val="400"/>
              </a:spcAft>
            </a:pPr>
            <a:r>
              <a:rPr sz="2500" b="1" i="0">
                <a:solidFill>
                  <a:srgbClr val="0D366B"/>
                </a:solidFill>
                <a:latin typeface="Segoe UI Semibold"/>
              </a:rPr>
              <a:t>One workbook in, one decision pack out — no specialist required</a:t>
            </a:r>
          </a:p>
        </p:txBody>
      </p:sp>
      <p:sp>
        <p:nvSpPr>
          <p:cNvPr id="5" name="Rectangle 4"/>
          <p:cNvSpPr/>
          <p:nvPr/>
        </p:nvSpPr>
        <p:spPr>
          <a:xfrm>
            <a:off x="0" y="6656832"/>
            <a:ext cx="12191695" cy="201168"/>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675120"/>
            <a:ext cx="8229600" cy="182880"/>
          </a:xfrm>
          <a:prstGeom prst="rect">
            <a:avLst/>
          </a:prstGeom>
          <a:noFill/>
        </p:spPr>
        <p:txBody>
          <a:bodyPr wrap="square" anchor="t" lIns="0" rIns="0" tIns="0" bIns="0">
            <a:spAutoFit/>
          </a:bodyPr>
          <a:lstStyle/>
          <a:p>
            <a:pPr algn="l">
              <a:lnSpc>
                <a:spcPct val="100000"/>
              </a:lnSpc>
              <a:spcAft>
                <a:spcPts val="400"/>
              </a:spcAft>
            </a:pPr>
            <a:r>
              <a:rPr sz="800" b="0" i="0">
                <a:solidFill>
                  <a:srgbClr val="CADCFC"/>
                </a:solidFill>
                <a:latin typeface="Segoe UI"/>
              </a:rPr>
              <a:t>Levisol India · Production, Distribution &amp; Inventory Optimisation</a:t>
            </a:r>
          </a:p>
        </p:txBody>
      </p:sp>
      <p:sp>
        <p:nvSpPr>
          <p:cNvPr id="7" name="TextBox 6"/>
          <p:cNvSpPr txBox="1"/>
          <p:nvPr/>
        </p:nvSpPr>
        <p:spPr>
          <a:xfrm>
            <a:off x="11247120" y="6675120"/>
            <a:ext cx="640080" cy="182880"/>
          </a:xfrm>
          <a:prstGeom prst="rect">
            <a:avLst/>
          </a:prstGeom>
          <a:noFill/>
        </p:spPr>
        <p:txBody>
          <a:bodyPr wrap="square" anchor="t" lIns="0" rIns="0" tIns="0" bIns="0">
            <a:spAutoFit/>
          </a:bodyPr>
          <a:lstStyle/>
          <a:p>
            <a:pPr algn="r">
              <a:lnSpc>
                <a:spcPct val="100000"/>
              </a:lnSpc>
              <a:spcAft>
                <a:spcPts val="400"/>
              </a:spcAft>
            </a:pPr>
            <a:r>
              <a:rPr sz="800" b="0" i="0">
                <a:solidFill>
                  <a:srgbClr val="CADCFC"/>
                </a:solidFill>
                <a:latin typeface="Segoe UI"/>
              </a:rPr>
              <a:t>17</a:t>
            </a:r>
          </a:p>
        </p:txBody>
      </p:sp>
      <p:sp>
        <p:nvSpPr>
          <p:cNvPr id="8" name="Rounded Rectangle 7"/>
          <p:cNvSpPr/>
          <p:nvPr/>
        </p:nvSpPr>
        <p:spPr>
          <a:xfrm>
            <a:off x="640080" y="1783080"/>
            <a:ext cx="3520440" cy="2286000"/>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965960"/>
            <a:ext cx="3017520" cy="640080"/>
          </a:xfrm>
          <a:prstGeom prst="rect">
            <a:avLst/>
          </a:prstGeom>
          <a:noFill/>
        </p:spPr>
        <p:txBody>
          <a:bodyPr wrap="square" anchor="t" lIns="0" rIns="0" tIns="0" bIns="0">
            <a:spAutoFit/>
          </a:bodyPr>
          <a:lstStyle/>
          <a:p>
            <a:pPr algn="l">
              <a:lnSpc>
                <a:spcPct val="100000"/>
              </a:lnSpc>
              <a:spcAft>
                <a:spcPts val="400"/>
              </a:spcAft>
            </a:pPr>
            <a:r>
              <a:rPr sz="3100" b="1" i="0">
                <a:solidFill>
                  <a:srgbClr val="B47A00"/>
                </a:solidFill>
                <a:latin typeface="Segoe UI Semibold"/>
              </a:rPr>
              <a:t>1</a:t>
            </a:r>
          </a:p>
        </p:txBody>
      </p:sp>
      <p:sp>
        <p:nvSpPr>
          <p:cNvPr id="10" name="TextBox 9"/>
          <p:cNvSpPr txBox="1"/>
          <p:nvPr/>
        </p:nvSpPr>
        <p:spPr>
          <a:xfrm>
            <a:off x="877824" y="2651760"/>
            <a:ext cx="3017520" cy="457200"/>
          </a:xfrm>
          <a:prstGeom prst="rect">
            <a:avLst/>
          </a:prstGeom>
          <a:noFill/>
        </p:spPr>
        <p:txBody>
          <a:bodyPr wrap="square" anchor="t" lIns="0" rIns="0" tIns="0" bIns="0">
            <a:spAutoFit/>
          </a:bodyPr>
          <a:lstStyle/>
          <a:p>
            <a:pPr algn="l">
              <a:lnSpc>
                <a:spcPct val="100000"/>
              </a:lnSpc>
              <a:spcAft>
                <a:spcPts val="400"/>
              </a:spcAft>
            </a:pPr>
            <a:r>
              <a:rPr sz="1400" b="1" i="0">
                <a:solidFill>
                  <a:srgbClr val="0D366B"/>
                </a:solidFill>
                <a:latin typeface="Segoe UI Semibold"/>
              </a:rPr>
              <a:t>EDIT the month's workbook</a:t>
            </a:r>
          </a:p>
        </p:txBody>
      </p:sp>
      <p:sp>
        <p:nvSpPr>
          <p:cNvPr id="11" name="TextBox 10"/>
          <p:cNvSpPr txBox="1"/>
          <p:nvPr/>
        </p:nvSpPr>
        <p:spPr>
          <a:xfrm>
            <a:off x="877824" y="3127248"/>
            <a:ext cx="3063240" cy="868680"/>
          </a:xfrm>
          <a:prstGeom prst="rect">
            <a:avLst/>
          </a:prstGeom>
          <a:noFill/>
        </p:spPr>
        <p:txBody>
          <a:bodyPr wrap="square" anchor="t" lIns="0" rIns="0" tIns="0" bIns="0">
            <a:spAutoFit/>
          </a:bodyPr>
          <a:lstStyle/>
          <a:p>
            <a:pPr algn="l">
              <a:lnSpc>
                <a:spcPct val="112000"/>
              </a:lnSpc>
              <a:spcAft>
                <a:spcPts val="400"/>
              </a:spcAft>
            </a:pPr>
            <a:r>
              <a:rPr sz="1050" b="0" i="0">
                <a:solidFill>
                  <a:srgbClr val="52514E"/>
                </a:solidFill>
                <a:latin typeface="Segoe UI"/>
              </a:rPr>
              <a:t>demand (J) · capacities &amp; costs (A) · freight (B/C) · lead times (E) · service levels (F) · opening stock (I)</a:t>
            </a:r>
          </a:p>
        </p:txBody>
      </p:sp>
      <p:sp>
        <p:nvSpPr>
          <p:cNvPr id="12" name="Rounded Rectangle 11"/>
          <p:cNvSpPr/>
          <p:nvPr/>
        </p:nvSpPr>
        <p:spPr>
          <a:xfrm>
            <a:off x="4416552" y="1783080"/>
            <a:ext cx="3520440" cy="2286000"/>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1965960"/>
            <a:ext cx="3017520" cy="640080"/>
          </a:xfrm>
          <a:prstGeom prst="rect">
            <a:avLst/>
          </a:prstGeom>
          <a:noFill/>
        </p:spPr>
        <p:txBody>
          <a:bodyPr wrap="square" anchor="t" lIns="0" rIns="0" tIns="0" bIns="0">
            <a:spAutoFit/>
          </a:bodyPr>
          <a:lstStyle/>
          <a:p>
            <a:pPr algn="l">
              <a:lnSpc>
                <a:spcPct val="100000"/>
              </a:lnSpc>
              <a:spcAft>
                <a:spcPts val="400"/>
              </a:spcAft>
            </a:pPr>
            <a:r>
              <a:rPr sz="3100" b="1" i="0">
                <a:solidFill>
                  <a:srgbClr val="B47A00"/>
                </a:solidFill>
                <a:latin typeface="Segoe UI Semibold"/>
              </a:rPr>
              <a:t>2</a:t>
            </a:r>
          </a:p>
        </p:txBody>
      </p:sp>
      <p:sp>
        <p:nvSpPr>
          <p:cNvPr id="14" name="TextBox 13"/>
          <p:cNvSpPr txBox="1"/>
          <p:nvPr/>
        </p:nvSpPr>
        <p:spPr>
          <a:xfrm>
            <a:off x="4654296" y="2651760"/>
            <a:ext cx="3017520" cy="457200"/>
          </a:xfrm>
          <a:prstGeom prst="rect">
            <a:avLst/>
          </a:prstGeom>
          <a:noFill/>
        </p:spPr>
        <p:txBody>
          <a:bodyPr wrap="square" anchor="t" lIns="0" rIns="0" tIns="0" bIns="0">
            <a:spAutoFit/>
          </a:bodyPr>
          <a:lstStyle/>
          <a:p>
            <a:pPr algn="l">
              <a:lnSpc>
                <a:spcPct val="100000"/>
              </a:lnSpc>
              <a:spcAft>
                <a:spcPts val="400"/>
              </a:spcAft>
            </a:pPr>
            <a:r>
              <a:rPr sz="1400" b="1" i="0">
                <a:solidFill>
                  <a:srgbClr val="0D366B"/>
                </a:solidFill>
                <a:latin typeface="Segoe UI Semibold"/>
              </a:rPr>
              <a:t>RUN the tool</a:t>
            </a:r>
          </a:p>
        </p:txBody>
      </p:sp>
      <p:sp>
        <p:nvSpPr>
          <p:cNvPr id="15" name="TextBox 14"/>
          <p:cNvSpPr txBox="1"/>
          <p:nvPr/>
        </p:nvSpPr>
        <p:spPr>
          <a:xfrm>
            <a:off x="4654296" y="3127248"/>
            <a:ext cx="3063240" cy="868680"/>
          </a:xfrm>
          <a:prstGeom prst="rect">
            <a:avLst/>
          </a:prstGeom>
          <a:noFill/>
        </p:spPr>
        <p:txBody>
          <a:bodyPr wrap="square" anchor="t" lIns="0" rIns="0" tIns="0" bIns="0">
            <a:spAutoFit/>
          </a:bodyPr>
          <a:lstStyle/>
          <a:p>
            <a:pPr algn="l">
              <a:lnSpc>
                <a:spcPct val="112000"/>
              </a:lnSpc>
              <a:spcAft>
                <a:spcPts val="400"/>
              </a:spcAft>
            </a:pPr>
            <a:r>
              <a:rPr sz="1050" b="0" i="0">
                <a:solidFill>
                  <a:srgbClr val="52514E"/>
                </a:solidFill>
                <a:latin typeface="Segoe UI"/>
              </a:rPr>
              <a:t>double-click → browse → RUN PLAN. Norms + MILP re-solve from scratch, &lt; 3 minutes</a:t>
            </a:r>
          </a:p>
        </p:txBody>
      </p:sp>
      <p:sp>
        <p:nvSpPr>
          <p:cNvPr id="16" name="Rounded Rectangle 15"/>
          <p:cNvSpPr/>
          <p:nvPr/>
        </p:nvSpPr>
        <p:spPr>
          <a:xfrm>
            <a:off x="8193023" y="1783080"/>
            <a:ext cx="3520440" cy="2286000"/>
          </a:xfrm>
          <a:prstGeom prst="roundRect">
            <a:avLst>
              <a:gd name="adj" fmla="val 7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7" y="1965960"/>
            <a:ext cx="3017520" cy="640080"/>
          </a:xfrm>
          <a:prstGeom prst="rect">
            <a:avLst/>
          </a:prstGeom>
          <a:noFill/>
        </p:spPr>
        <p:txBody>
          <a:bodyPr wrap="square" anchor="t" lIns="0" rIns="0" tIns="0" bIns="0">
            <a:spAutoFit/>
          </a:bodyPr>
          <a:lstStyle/>
          <a:p>
            <a:pPr algn="l">
              <a:lnSpc>
                <a:spcPct val="100000"/>
              </a:lnSpc>
              <a:spcAft>
                <a:spcPts val="400"/>
              </a:spcAft>
            </a:pPr>
            <a:r>
              <a:rPr sz="3100" b="1" i="0">
                <a:solidFill>
                  <a:srgbClr val="B47A00"/>
                </a:solidFill>
                <a:latin typeface="Segoe UI Semibold"/>
              </a:rPr>
              <a:t>3</a:t>
            </a:r>
          </a:p>
        </p:txBody>
      </p:sp>
      <p:sp>
        <p:nvSpPr>
          <p:cNvPr id="18" name="TextBox 17"/>
          <p:cNvSpPr txBox="1"/>
          <p:nvPr/>
        </p:nvSpPr>
        <p:spPr>
          <a:xfrm>
            <a:off x="8430767" y="2651760"/>
            <a:ext cx="3017520" cy="457200"/>
          </a:xfrm>
          <a:prstGeom prst="rect">
            <a:avLst/>
          </a:prstGeom>
          <a:noFill/>
        </p:spPr>
        <p:txBody>
          <a:bodyPr wrap="square" anchor="t" lIns="0" rIns="0" tIns="0" bIns="0">
            <a:spAutoFit/>
          </a:bodyPr>
          <a:lstStyle/>
          <a:p>
            <a:pPr algn="l">
              <a:lnSpc>
                <a:spcPct val="100000"/>
              </a:lnSpc>
              <a:spcAft>
                <a:spcPts val="400"/>
              </a:spcAft>
            </a:pPr>
            <a:r>
              <a:rPr sz="1400" b="1" i="0">
                <a:solidFill>
                  <a:srgbClr val="0D366B"/>
                </a:solidFill>
                <a:latin typeface="Segoe UI Semibold"/>
              </a:rPr>
              <a:t>ACT on the output</a:t>
            </a:r>
          </a:p>
        </p:txBody>
      </p:sp>
      <p:sp>
        <p:nvSpPr>
          <p:cNvPr id="19" name="TextBox 18"/>
          <p:cNvSpPr txBox="1"/>
          <p:nvPr/>
        </p:nvSpPr>
        <p:spPr>
          <a:xfrm>
            <a:off x="8430767" y="3127248"/>
            <a:ext cx="3063240" cy="868680"/>
          </a:xfrm>
          <a:prstGeom prst="rect">
            <a:avLst/>
          </a:prstGeom>
          <a:noFill/>
        </p:spPr>
        <p:txBody>
          <a:bodyPr wrap="square" anchor="t" lIns="0" rIns="0" tIns="0" bIns="0">
            <a:spAutoFit/>
          </a:bodyPr>
          <a:lstStyle/>
          <a:p>
            <a:pPr algn="l">
              <a:lnSpc>
                <a:spcPct val="112000"/>
              </a:lnSpc>
              <a:spcAft>
                <a:spcPts val="400"/>
              </a:spcAft>
            </a:pPr>
            <a:r>
              <a:rPr sz="1050" b="0" i="0">
                <a:solidFill>
                  <a:srgbClr val="52514E"/>
                </a:solidFill>
                <a:latin typeface="Segoe UI"/>
              </a:rPr>
              <a:t>production plan · routing plan · norms · cost summary · Exceptions sheet with every shortfall priced</a:t>
            </a:r>
          </a:p>
        </p:txBody>
      </p:sp>
      <p:sp>
        <p:nvSpPr>
          <p:cNvPr id="20" name="Rounded Rectangle 19"/>
          <p:cNvSpPr/>
          <p:nvPr/>
        </p:nvSpPr>
        <p:spPr>
          <a:xfrm>
            <a:off x="640080" y="4343400"/>
            <a:ext cx="10972800" cy="1600200"/>
          </a:xfrm>
          <a:prstGeom prst="roundRect">
            <a:avLst>
              <a:gd name="adj" fmla="val 7000"/>
            </a:avLst>
          </a:prstGeom>
          <a:solidFill>
            <a:srgbClr val="E2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526280"/>
            <a:ext cx="10424160" cy="365760"/>
          </a:xfrm>
          <a:prstGeom prst="rect">
            <a:avLst/>
          </a:prstGeom>
          <a:noFill/>
        </p:spPr>
        <p:txBody>
          <a:bodyPr wrap="square" anchor="t" lIns="0" rIns="0" tIns="0" bIns="0">
            <a:spAutoFit/>
          </a:bodyPr>
          <a:lstStyle/>
          <a:p>
            <a:pPr algn="l">
              <a:lnSpc>
                <a:spcPct val="100000"/>
              </a:lnSpc>
              <a:spcAft>
                <a:spcPts val="400"/>
              </a:spcAft>
            </a:pPr>
            <a:r>
              <a:rPr sz="1150" b="1" i="0">
                <a:solidFill>
                  <a:srgbClr val="006300"/>
                </a:solidFill>
                <a:latin typeface="Segoe UI Semibold"/>
              </a:rPr>
              <a:t>ROBUST BY CONSTRUCTION</a:t>
            </a:r>
          </a:p>
        </p:txBody>
      </p:sp>
      <p:sp>
        <p:nvSpPr>
          <p:cNvPr id="22" name="TextBox 21"/>
          <p:cNvSpPr txBox="1"/>
          <p:nvPr/>
        </p:nvSpPr>
        <p:spPr>
          <a:xfrm>
            <a:off x="914400" y="4892040"/>
            <a:ext cx="10424160" cy="914400"/>
          </a:xfrm>
          <a:prstGeom prst="rect">
            <a:avLst/>
          </a:prstGeom>
          <a:noFill/>
        </p:spPr>
        <p:txBody>
          <a:bodyPr wrap="square" anchor="t" lIns="0" rIns="0" tIns="0" bIns="0">
            <a:spAutoFit/>
          </a:bodyPr>
          <a:lstStyle/>
          <a:p>
            <a:pPr algn="l">
              <a:lnSpc>
                <a:spcPct val="120000"/>
              </a:lnSpc>
              <a:spcAft>
                <a:spcPts val="400"/>
              </a:spcAft>
            </a:pPr>
            <a:r>
              <a:rPr sz="1150" b="0" i="0">
                <a:solidFill>
                  <a:srgbClr val="0B0B0B"/>
                </a:solidFill>
                <a:latin typeface="Segoe UI"/>
              </a:rPr>
              <a:t>Zero demand → flagged, skipped. Zero capacity → line excluded. Demand beyond capacity → ranked shortage report, never a crash. No sales history → norm suppressed + flagged. Every dial (service levels, buffer weight, contractual multiplier, holding cost) is a documented parameter.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366B"/>
        </a:solidFill>
        <a:effectLst/>
      </p:bgPr>
    </p:bg>
    <p:spTree>
      <p:nvGrpSpPr>
        <p:cNvPr id="1" name=""/>
        <p:cNvGrpSpPr/>
        <p:nvPr/>
      </p:nvGrpSpPr>
      <p:grpSpPr/>
      <p:sp>
        <p:nvSpPr>
          <p:cNvPr id="2" name="Rectangle 1"/>
          <p:cNvSpPr/>
          <p:nvPr/>
        </p:nvSpPr>
        <p:spPr>
          <a:xfrm>
            <a:off x="0" y="5468112"/>
            <a:ext cx="12191695" cy="54864"/>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10515600" cy="365760"/>
          </a:xfrm>
          <a:prstGeom prst="rect">
            <a:avLst/>
          </a:prstGeom>
          <a:noFill/>
        </p:spPr>
        <p:txBody>
          <a:bodyPr wrap="square" anchor="t" lIns="0" rIns="0" tIns="0" bIns="0">
            <a:spAutoFit/>
          </a:bodyPr>
          <a:lstStyle/>
          <a:p>
            <a:pPr algn="l">
              <a:lnSpc>
                <a:spcPct val="100000"/>
              </a:lnSpc>
              <a:spcAft>
                <a:spcPts val="400"/>
              </a:spcAft>
            </a:pPr>
            <a:r>
              <a:rPr sz="1300" b="1" i="0">
                <a:solidFill>
                  <a:srgbClr val="CADCFC"/>
                </a:solidFill>
                <a:latin typeface="Segoe UI Semibold"/>
              </a:rPr>
              <a:t>RECOMMENDATIONS &amp; CLOSE</a:t>
            </a:r>
          </a:p>
        </p:txBody>
      </p:sp>
      <p:sp>
        <p:nvSpPr>
          <p:cNvPr id="4" name="TextBox 3"/>
          <p:cNvSpPr txBox="1"/>
          <p:nvPr/>
        </p:nvSpPr>
        <p:spPr>
          <a:xfrm>
            <a:off x="822960" y="1188720"/>
            <a:ext cx="10607040" cy="822960"/>
          </a:xfrm>
          <a:prstGeom prst="rect">
            <a:avLst/>
          </a:prstGeom>
          <a:noFill/>
        </p:spPr>
        <p:txBody>
          <a:bodyPr wrap="square" anchor="t" lIns="0" rIns="0" tIns="0" bIns="0">
            <a:spAutoFit/>
          </a:bodyPr>
          <a:lstStyle/>
          <a:p>
            <a:pPr algn="l">
              <a:lnSpc>
                <a:spcPct val="100000"/>
              </a:lnSpc>
              <a:spcAft>
                <a:spcPts val="400"/>
              </a:spcAft>
            </a:pPr>
            <a:r>
              <a:rPr sz="3200" b="1" i="0">
                <a:solidFill>
                  <a:srgbClr val="FFFFFF"/>
                </a:solidFill>
                <a:latin typeface="Segoe UI Semibold"/>
              </a:rPr>
              <a:t>Serve everything. Release the cash. Fix the forecasts.</a:t>
            </a:r>
          </a:p>
        </p:txBody>
      </p:sp>
      <p:sp>
        <p:nvSpPr>
          <p:cNvPr id="5" name="Rounded Rectangle 4"/>
          <p:cNvSpPr/>
          <p:nvPr/>
        </p:nvSpPr>
        <p:spPr>
          <a:xfrm>
            <a:off x="822960" y="2194560"/>
            <a:ext cx="10561320" cy="713232"/>
          </a:xfrm>
          <a:prstGeom prst="roundRect">
            <a:avLst>
              <a:gd name="adj" fmla="val 7000"/>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313432"/>
            <a:ext cx="3291840" cy="457200"/>
          </a:xfrm>
          <a:prstGeom prst="rect">
            <a:avLst/>
          </a:prstGeom>
          <a:noFill/>
        </p:spPr>
        <p:txBody>
          <a:bodyPr wrap="square" anchor="t" lIns="0" rIns="0" tIns="0" bIns="0">
            <a:spAutoFit/>
          </a:bodyPr>
          <a:lstStyle/>
          <a:p>
            <a:pPr algn="l">
              <a:lnSpc>
                <a:spcPct val="100000"/>
              </a:lnSpc>
              <a:spcAft>
                <a:spcPts val="400"/>
              </a:spcAft>
            </a:pPr>
            <a:r>
              <a:rPr sz="1450" b="1" i="0">
                <a:solidFill>
                  <a:srgbClr val="EDA100"/>
                </a:solidFill>
                <a:latin typeface="Segoe UI Semibold"/>
              </a:rPr>
              <a:t>Adopt the plan</a:t>
            </a:r>
          </a:p>
        </p:txBody>
      </p:sp>
      <p:sp>
        <p:nvSpPr>
          <p:cNvPr id="7" name="TextBox 6"/>
          <p:cNvSpPr txBox="1"/>
          <p:nvPr/>
        </p:nvSpPr>
        <p:spPr>
          <a:xfrm>
            <a:off x="4480560" y="2313432"/>
            <a:ext cx="6766560" cy="502920"/>
          </a:xfrm>
          <a:prstGeom prst="rect">
            <a:avLst/>
          </a:prstGeom>
          <a:noFill/>
        </p:spPr>
        <p:txBody>
          <a:bodyPr wrap="square" anchor="t" lIns="0" rIns="0" tIns="0" bIns="0">
            <a:spAutoFit/>
          </a:bodyPr>
          <a:lstStyle/>
          <a:p>
            <a:pPr algn="l">
              <a:lnSpc>
                <a:spcPct val="105000"/>
              </a:lnSpc>
              <a:spcAft>
                <a:spcPts val="400"/>
              </a:spcAft>
            </a:pPr>
            <a:r>
              <a:rPr sz="1250" b="0" i="0">
                <a:solidFill>
                  <a:srgbClr val="FFFFFF"/>
                </a:solidFill>
                <a:latin typeface="Segoe UI"/>
              </a:rPr>
              <a:t>₹11.44 cr, zero unmet demand, proven optimal — execution-ready for January.</a:t>
            </a:r>
          </a:p>
        </p:txBody>
      </p:sp>
      <p:sp>
        <p:nvSpPr>
          <p:cNvPr id="8" name="Rounded Rectangle 7"/>
          <p:cNvSpPr/>
          <p:nvPr/>
        </p:nvSpPr>
        <p:spPr>
          <a:xfrm>
            <a:off x="822960" y="3035808"/>
            <a:ext cx="10561320" cy="713232"/>
          </a:xfrm>
          <a:prstGeom prst="roundRect">
            <a:avLst>
              <a:gd name="adj" fmla="val 7000"/>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154679"/>
            <a:ext cx="3291840" cy="457200"/>
          </a:xfrm>
          <a:prstGeom prst="rect">
            <a:avLst/>
          </a:prstGeom>
          <a:noFill/>
        </p:spPr>
        <p:txBody>
          <a:bodyPr wrap="square" anchor="t" lIns="0" rIns="0" tIns="0" bIns="0">
            <a:spAutoFit/>
          </a:bodyPr>
          <a:lstStyle/>
          <a:p>
            <a:pPr algn="l">
              <a:lnSpc>
                <a:spcPct val="100000"/>
              </a:lnSpc>
              <a:spcAft>
                <a:spcPts val="400"/>
              </a:spcAft>
            </a:pPr>
            <a:r>
              <a:rPr sz="1450" b="1" i="0">
                <a:solidFill>
                  <a:srgbClr val="EDA100"/>
                </a:solidFill>
                <a:latin typeface="Segoe UI Semibold"/>
              </a:rPr>
              <a:t>Adopt the norms</a:t>
            </a:r>
          </a:p>
        </p:txBody>
      </p:sp>
      <p:sp>
        <p:nvSpPr>
          <p:cNvPr id="10" name="TextBox 9"/>
          <p:cNvSpPr txBox="1"/>
          <p:nvPr/>
        </p:nvSpPr>
        <p:spPr>
          <a:xfrm>
            <a:off x="4480560" y="3154679"/>
            <a:ext cx="6766560" cy="502920"/>
          </a:xfrm>
          <a:prstGeom prst="rect">
            <a:avLst/>
          </a:prstGeom>
          <a:noFill/>
        </p:spPr>
        <p:txBody>
          <a:bodyPr wrap="square" anchor="t" lIns="0" rIns="0" tIns="0" bIns="0">
            <a:spAutoFit/>
          </a:bodyPr>
          <a:lstStyle/>
          <a:p>
            <a:pPr algn="l">
              <a:lnSpc>
                <a:spcPct val="105000"/>
              </a:lnSpc>
              <a:spcAft>
                <a:spcPts val="400"/>
              </a:spcAft>
            </a:pPr>
            <a:r>
              <a:rPr sz="1250" b="0" i="0">
                <a:solidFill>
                  <a:srgbClr val="FFFFFF"/>
                </a:solidFill>
                <a:latin typeface="Segoe UI"/>
              </a:rPr>
              <a:t>1,465 kL CFA + 1,488 kL hub safety stock; revisit C/D after 3 months of post-shock data.</a:t>
            </a:r>
          </a:p>
        </p:txBody>
      </p:sp>
      <p:sp>
        <p:nvSpPr>
          <p:cNvPr id="11" name="Rounded Rectangle 10"/>
          <p:cNvSpPr/>
          <p:nvPr/>
        </p:nvSpPr>
        <p:spPr>
          <a:xfrm>
            <a:off x="822960" y="3877056"/>
            <a:ext cx="10561320" cy="713232"/>
          </a:xfrm>
          <a:prstGeom prst="roundRect">
            <a:avLst>
              <a:gd name="adj" fmla="val 7000"/>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995928"/>
            <a:ext cx="3291840" cy="457200"/>
          </a:xfrm>
          <a:prstGeom prst="rect">
            <a:avLst/>
          </a:prstGeom>
          <a:noFill/>
        </p:spPr>
        <p:txBody>
          <a:bodyPr wrap="square" anchor="t" lIns="0" rIns="0" tIns="0" bIns="0">
            <a:spAutoFit/>
          </a:bodyPr>
          <a:lstStyle/>
          <a:p>
            <a:pPr algn="l">
              <a:lnSpc>
                <a:spcPct val="100000"/>
              </a:lnSpc>
              <a:spcAft>
                <a:spcPts val="400"/>
              </a:spcAft>
            </a:pPr>
            <a:r>
              <a:rPr sz="1450" b="1" i="0">
                <a:solidFill>
                  <a:srgbClr val="EDA100"/>
                </a:solidFill>
                <a:latin typeface="Segoe UI Semibold"/>
              </a:rPr>
              <a:t>Fix the 211 biased forecasts</a:t>
            </a:r>
          </a:p>
        </p:txBody>
      </p:sp>
      <p:sp>
        <p:nvSpPr>
          <p:cNvPr id="13" name="TextBox 12"/>
          <p:cNvSpPr txBox="1"/>
          <p:nvPr/>
        </p:nvSpPr>
        <p:spPr>
          <a:xfrm>
            <a:off x="4480560" y="3995928"/>
            <a:ext cx="6766560" cy="502920"/>
          </a:xfrm>
          <a:prstGeom prst="rect">
            <a:avLst/>
          </a:prstGeom>
          <a:noFill/>
        </p:spPr>
        <p:txBody>
          <a:bodyPr wrap="square" anchor="t" lIns="0" rIns="0" tIns="0" bIns="0">
            <a:spAutoFit/>
          </a:bodyPr>
          <a:lstStyle/>
          <a:p>
            <a:pPr algn="l">
              <a:lnSpc>
                <a:spcPct val="105000"/>
              </a:lnSpc>
              <a:spcAft>
                <a:spcPts val="400"/>
              </a:spcAft>
            </a:pPr>
            <a:r>
              <a:rPr sz="1250" b="0" i="0">
                <a:solidFill>
                  <a:srgbClr val="FFFFFF"/>
                </a:solidFill>
                <a:latin typeface="Segoe UI"/>
              </a:rPr>
              <a:t>the largest structural cash lever found — stop warehousing forecast error.</a:t>
            </a:r>
          </a:p>
        </p:txBody>
      </p:sp>
      <p:sp>
        <p:nvSpPr>
          <p:cNvPr id="14" name="Rounded Rectangle 13"/>
          <p:cNvSpPr/>
          <p:nvPr/>
        </p:nvSpPr>
        <p:spPr>
          <a:xfrm>
            <a:off x="822960" y="4718304"/>
            <a:ext cx="10561320" cy="713232"/>
          </a:xfrm>
          <a:prstGeom prst="roundRect">
            <a:avLst>
              <a:gd name="adj" fmla="val 7000"/>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837176"/>
            <a:ext cx="3291840" cy="457200"/>
          </a:xfrm>
          <a:prstGeom prst="rect">
            <a:avLst/>
          </a:prstGeom>
          <a:noFill/>
        </p:spPr>
        <p:txBody>
          <a:bodyPr wrap="square" anchor="t" lIns="0" rIns="0" tIns="0" bIns="0">
            <a:spAutoFit/>
          </a:bodyPr>
          <a:lstStyle/>
          <a:p>
            <a:pPr algn="l">
              <a:lnSpc>
                <a:spcPct val="100000"/>
              </a:lnSpc>
              <a:spcAft>
                <a:spcPts val="400"/>
              </a:spcAft>
            </a:pPr>
            <a:r>
              <a:rPr sz="1450" b="1" i="0">
                <a:solidFill>
                  <a:srgbClr val="EDA100"/>
                </a:solidFill>
                <a:latin typeface="Segoe UI Semibold"/>
              </a:rPr>
              <a:t>Watch the ≤1.5LT line</a:t>
            </a:r>
          </a:p>
        </p:txBody>
      </p:sp>
      <p:sp>
        <p:nvSpPr>
          <p:cNvPr id="16" name="TextBox 15"/>
          <p:cNvSpPr txBox="1"/>
          <p:nvPr/>
        </p:nvSpPr>
        <p:spPr>
          <a:xfrm>
            <a:off x="4480560" y="4837176"/>
            <a:ext cx="6766560" cy="502920"/>
          </a:xfrm>
          <a:prstGeom prst="rect">
            <a:avLst/>
          </a:prstGeom>
          <a:noFill/>
        </p:spPr>
        <p:txBody>
          <a:bodyPr wrap="square" anchor="t" lIns="0" rIns="0" tIns="0" bIns="0">
            <a:spAutoFit/>
          </a:bodyPr>
          <a:lstStyle/>
          <a:p>
            <a:pPr algn="l">
              <a:lnSpc>
                <a:spcPct val="105000"/>
              </a:lnSpc>
              <a:spcAft>
                <a:spcPts val="400"/>
              </a:spcAft>
            </a:pPr>
            <a:r>
              <a:rPr sz="1250" b="0" i="0">
                <a:solidFill>
                  <a:srgbClr val="FFFFFF"/>
                </a:solidFill>
                <a:latin typeface="Segoe UI"/>
              </a:rPr>
              <a:t>BOM &amp; KOL run it at 100%; AHM slack is the shock absorber for any upside.</a:t>
            </a:r>
          </a:p>
        </p:txBody>
      </p:sp>
      <p:sp>
        <p:nvSpPr>
          <p:cNvPr id="17" name="TextBox 16"/>
          <p:cNvSpPr txBox="1"/>
          <p:nvPr/>
        </p:nvSpPr>
        <p:spPr>
          <a:xfrm>
            <a:off x="822960" y="5806440"/>
            <a:ext cx="10607040" cy="457200"/>
          </a:xfrm>
          <a:prstGeom prst="rect">
            <a:avLst/>
          </a:prstGeom>
          <a:noFill/>
        </p:spPr>
        <p:txBody>
          <a:bodyPr wrap="square" anchor="t" lIns="0" rIns="0" tIns="0" bIns="0">
            <a:spAutoFit/>
          </a:bodyPr>
          <a:lstStyle/>
          <a:p>
            <a:pPr algn="l">
              <a:lnSpc>
                <a:spcPct val="100000"/>
              </a:lnSpc>
              <a:spcAft>
                <a:spcPts val="400"/>
              </a:spcAft>
            </a:pPr>
            <a:r>
              <a:rPr sz="1150" b="0" i="1">
                <a:solidFill>
                  <a:srgbClr val="CADCFC"/>
                </a:solidFill>
                <a:latin typeface="Segoe UI"/>
              </a:rPr>
              <a:t>Submission package: this deck · full report · Levisol_Plan_Output.xlsx · working tool + engine + user guide · methodology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